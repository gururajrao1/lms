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74519"/>
            <a:ext cx="128016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4000">
                <a:solidFill>
                  <a:srgbClr val="FFFFFF"/>
                </a:solidFill>
              </a:rPr>
              <a:t>Where AI is used in PharmaLearn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>
                <a:solidFill>
                  <a:srgbClr val="D6D3D1"/>
                </a:solidFill>
              </a:rPr>
              <a:t>Every place an agent does work — and the places it is deliberately kept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100">
                <a:solidFill>
                  <a:srgbClr val="8AA59C"/>
                </a:solidFill>
              </a:rPr>
              <a:t>Figures describe the Ibrance example course.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058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47857"/>
                </a:solidFill>
              </a:rPr>
              <a:t>THE SHAPE OF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2600">
                <a:solidFill>
                  <a:srgbClr val="1C1917"/>
                </a:solidFill>
              </a:rPr>
              <a:t>Three stages, then everyday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450">
                <a:solidFill>
                  <a:srgbClr val="047857"/>
                </a:solidFill>
              </a:rPr>
              <a:t>Research</a:t>
            </a:r>
            <a:r>
              <a:rPr sz="1450">
                <a:solidFill>
                  <a:srgbClr val="1C1917"/>
                </a:solidFill>
              </a:rPr>
              <a:t>  14 agents, one per section of the dossier. Each searches published sources and returns claims with the citation and the exact sentence it came from.</a:t>
            </a:r>
          </a:p>
          <a:p>
            <a:pPr>
              <a:spcAft>
                <a:spcPts val="1600"/>
              </a:spcAft>
            </a:pPr>
            <a:r>
              <a:rPr b="1" sz="1450">
                <a:solidFill>
                  <a:srgbClr val="047857"/>
                </a:solidFill>
              </a:rPr>
              <a:t>Authoring</a:t>
            </a:r>
            <a:r>
              <a:rPr sz="1450">
                <a:solidFill>
                  <a:srgbClr val="1C1917"/>
                </a:solidFill>
              </a:rPr>
              <a:t>  14 agents write the deck, storyboard, FAQ, quiz and three gamified assessment formats — separately for field medical and healthcare professionals.</a:t>
            </a:r>
          </a:p>
          <a:p>
            <a:pPr>
              <a:spcAft>
                <a:spcPts val="1600"/>
              </a:spcAft>
            </a:pPr>
            <a:r>
              <a:rPr b="1" sz="1450">
                <a:solidFill>
                  <a:srgbClr val="047857"/>
                </a:solidFill>
              </a:rPr>
              <a:t>Checking</a:t>
            </a:r>
            <a:r>
              <a:rPr sz="1450">
                <a:solidFill>
                  <a:srgbClr val="1C1917"/>
                </a:solidFill>
              </a:rPr>
              <a:t>  2 agents read the drafted content and challenge anything that overstates the evidence recorded behind it.</a:t>
            </a:r>
          </a:p>
          <a:p>
            <a:pPr>
              <a:spcAft>
                <a:spcPts val="1600"/>
              </a:spcAft>
            </a:pPr>
            <a:r>
              <a:rPr b="1" sz="1450">
                <a:solidFill>
                  <a:srgbClr val="047857"/>
                </a:solidFill>
              </a:rPr>
              <a:t>In use</a:t>
            </a:r>
            <a:r>
              <a:rPr sz="1450">
                <a:solidFill>
                  <a:srgbClr val="1C1917"/>
                </a:solidFill>
              </a:rPr>
              <a:t>  1 agent answers questions from staff and trainees, using only that course's collected claims, and shows its 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150">
                <a:solidFill>
                  <a:srgbClr val="57534E"/>
                </a:solidFill>
              </a:rPr>
              <a:t>About 740 agent calls build one course for one drug.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058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47857"/>
                </a:solidFill>
              </a:rPr>
              <a:t>RESEARCH AND AUTHORING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2600">
                <a:solidFill>
                  <a:srgbClr val="1C1917"/>
                </a:solidFill>
              </a:rPr>
              <a:t>What each agent produces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47857"/>
                </a:solidFill>
              </a:rPr>
              <a:t>Section researcher ×14</a:t>
            </a:r>
            <a:r>
              <a:rPr sz="1300">
                <a:solidFill>
                  <a:srgbClr val="1C1917"/>
                </a:solidFill>
              </a:rPr>
              <a:t>  Disease background, mechanism, clinical evidence, label, safety, market context, unmet needs, and more.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47857"/>
                </a:solidFill>
              </a:rPr>
              <a:t>Dossier builder</a:t>
            </a:r>
            <a:r>
              <a:rPr sz="1300">
                <a:solidFill>
                  <a:srgbClr val="1C1917"/>
                </a:solidFill>
              </a:rPr>
              <a:t>  Combines the fourteen sections into one master dossier — the single source everything else is written from.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47857"/>
                </a:solidFill>
              </a:rPr>
              <a:t>Deck writer ×2</a:t>
            </a:r>
            <a:r>
              <a:rPr sz="1300">
                <a:solidFill>
                  <a:srgbClr val="1C1917"/>
                </a:solidFill>
              </a:rPr>
              <a:t>  The slide-by-slide clinical presentation, per audience.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47857"/>
                </a:solidFill>
              </a:rPr>
              <a:t>Storyboard writer ×2</a:t>
            </a:r>
            <a:r>
              <a:rPr sz="1300">
                <a:solidFill>
                  <a:srgbClr val="1C1917"/>
                </a:solidFill>
              </a:rPr>
              <a:t>  Scene-by-scene narration and on-screen text.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47857"/>
                </a:solidFill>
              </a:rPr>
              <a:t>FAQ writer ×2</a:t>
            </a:r>
            <a:r>
              <a:rPr sz="1300">
                <a:solidFill>
                  <a:srgbClr val="1C1917"/>
                </a:solidFill>
              </a:rPr>
              <a:t>  The questions a field team actually gets asked, with escalation guidance.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47857"/>
                </a:solidFill>
              </a:rPr>
              <a:t>Quiz writer ×2</a:t>
            </a:r>
            <a:r>
              <a:rPr sz="1300">
                <a:solidFill>
                  <a:srgbClr val="1C1917"/>
                </a:solidFill>
              </a:rPr>
              <a:t>  The knowledge check, with a rationale for every answer.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47857"/>
                </a:solidFill>
              </a:rPr>
              <a:t>Sort board, instruction builder, figure writer ×2 each</a:t>
            </a:r>
            <a:r>
              <a:rPr sz="1300">
                <a:solidFill>
                  <a:srgbClr val="1C1917"/>
                </a:solidFill>
              </a:rPr>
              <a:t>  The three gamified assessment formats.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47857"/>
                </a:solidFill>
              </a:rPr>
              <a:t>Slide designer ×2</a:t>
            </a:r>
            <a:r>
              <a:rPr sz="1300">
                <a:solidFill>
                  <a:srgbClr val="1C1917"/>
                </a:solidFill>
              </a:rPr>
              <a:t>  Turns the deck into a finished, branded PowerPoint.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058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47857"/>
                </a:solidFill>
              </a:rPr>
              <a:t>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2600">
                <a:solidFill>
                  <a:srgbClr val="1C1917"/>
                </a:solidFill>
              </a:rPr>
              <a:t>The machine reviews before a person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500">
                <a:solidFill>
                  <a:srgbClr val="047857"/>
                </a:solidFill>
              </a:rPr>
              <a:t>Content checker</a:t>
            </a:r>
            <a:r>
              <a:rPr sz="1500">
                <a:solidFill>
                  <a:srgbClr val="1C1917"/>
                </a:solidFill>
              </a:rPr>
              <a:t>  Reads the learner-facing content and judges whether it overstates the evidence behind it — stronger claims than the source supports, missing qualifiers, breadth beyond the licensed use.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47857"/>
                </a:solidFill>
              </a:rPr>
              <a:t>Second-opinion checker</a:t>
            </a:r>
            <a:r>
              <a:rPr sz="1500">
                <a:solidFill>
                  <a:srgbClr val="1C1917"/>
                </a:solidFill>
              </a:rPr>
              <a:t>  Re-examines the serious findings before any reach a human, so reviewers are not sent to look at noise.</a:t>
            </a:r>
          </a:p>
          <a:p>
            <a:pPr>
              <a:spcAft>
                <a:spcPts val="1600"/>
              </a:spcAft>
            </a:pPr>
            <a:r>
              <a:rPr b="0" sz="1500">
                <a:solidFill>
                  <a:srgbClr val="1C1917"/>
                </a:solidFill>
              </a:rPr>
              <a:t>On the example course this raised 109 findings, 7 of them blocking publication.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150">
                <a:solidFill>
                  <a:srgbClr val="57534E"/>
                </a:solidFill>
              </a:rPr>
              <a:t>Everything an agent writes carries its citations forward.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058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47857"/>
                </a:solidFill>
              </a:rPr>
              <a:t>THE SHORTER LIST, AND THE MORE IMPORTANT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2800">
                <a:solidFill>
                  <a:srgbClr val="1C1917"/>
                </a:solidFill>
              </a:rPr>
              <a:t>Where AI is deliberately not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047857"/>
                </a:solidFill>
              </a:rPr>
              <a:t>Quote verification</a:t>
            </a:r>
            <a:r>
              <a:rPr sz="1500">
                <a:solidFill>
                  <a:srgbClr val="1C1917"/>
                </a:solidFill>
              </a:rPr>
              <a:t>  Whether a quoted sentence really appears in the source is settled by matching text against the stored file. No model, no variability. Five of the seven blocking findings came from here.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47857"/>
                </a:solidFill>
              </a:rPr>
              <a:t>Citation traceability</a:t>
            </a:r>
            <a:r>
              <a:rPr sz="1500">
                <a:solidFill>
                  <a:srgbClr val="1C1917"/>
                </a:solidFill>
              </a:rPr>
              <a:t>  Whether a citation points at a document we hold is a lookup, not an opinion.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47857"/>
                </a:solidFill>
              </a:rPr>
              <a:t>Coverage</a:t>
            </a:r>
            <a:r>
              <a:rPr sz="1500">
                <a:solidFill>
                  <a:srgbClr val="1C1917"/>
                </a:solidFill>
              </a:rPr>
              <a:t>  Measured against a required-topic list a medical education lead can edit.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47857"/>
                </a:solidFill>
              </a:rPr>
              <a:t>Scores, uplift and certificates</a:t>
            </a:r>
            <a:r>
              <a:rPr sz="1500">
                <a:solidFill>
                  <a:srgbClr val="1C1917"/>
                </a:solidFill>
              </a:rPr>
              <a:t>  Arithmetic on recorded answers.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47857"/>
                </a:solidFill>
              </a:rPr>
              <a:t>Schedules and programme status</a:t>
            </a:r>
            <a:r>
              <a:rPr sz="1500">
                <a:solidFill>
                  <a:srgbClr val="1C1917"/>
                </a:solidFill>
              </a:rPr>
              <a:t>  Derived from the calendar and the cohort every time they are read, so a label can never be stale.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47857"/>
                </a:solidFill>
              </a:rPr>
              <a:t>Approval</a:t>
            </a:r>
            <a:r>
              <a:rPr sz="1500">
                <a:solidFill>
                  <a:srgbClr val="1C1917"/>
                </a:solidFill>
              </a:rPr>
              <a:t>  The checker raises findings. It can never clear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058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47857"/>
                </a:solidFill>
              </a:rP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2600">
                <a:solidFill>
                  <a:srgbClr val="1C1917"/>
                </a:solidFill>
              </a:rPr>
              <a:t>The rules the agents work 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500">
                <a:solidFill>
                  <a:srgbClr val="047857"/>
                </a:solidFill>
              </a:rPr>
              <a:t>Evidence only</a:t>
            </a:r>
            <a:r>
              <a:rPr sz="1500">
                <a:solidFill>
                  <a:srgbClr val="1C1917"/>
                </a:solidFill>
              </a:rPr>
              <a:t>  An agent writing content is given the dossier and told to use nothing else. An agent answering a question is given the retrieved claims and told the same.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47857"/>
                </a:solidFill>
              </a:rPr>
              <a:t>Everything is cited</a:t>
            </a:r>
            <a:r>
              <a:rPr sz="1500">
                <a:solidFill>
                  <a:srgbClr val="1C1917"/>
                </a:solidFill>
              </a:rPr>
              <a:t>  Content without a citation is flagged automatically.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47857"/>
                </a:solidFill>
              </a:rPr>
              <a:t>Nothing self-approves</a:t>
            </a:r>
            <a:r>
              <a:rPr sz="1500">
                <a:solidFill>
                  <a:srgbClr val="1C1917"/>
                </a:solidFill>
              </a:rPr>
              <a:t>  The machine triages; a named person decides, and any override is recorded against their name.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47857"/>
                </a:solidFill>
              </a:rPr>
              <a:t>Spend is capped and logged</a:t>
            </a:r>
            <a:r>
              <a:rPr sz="1500">
                <a:solidFill>
                  <a:srgbClr val="1C1917"/>
                </a:solidFill>
              </a:rPr>
              <a:t>  Every call is metered against a per-course budget; repeated work is served from cache rather than re-billed.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058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47857"/>
                </a:solidFill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2800">
                <a:solidFill>
                  <a:srgbClr val="1C1917"/>
                </a:solidFill>
              </a:rPr>
              <a:t>What a reviewer actually receives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500">
                <a:solidFill>
                  <a:srgbClr val="1C1917"/>
                </a:solidFill>
              </a:rPr>
              <a:t>The agents do the reading, the drafting and the first pass of checking — the volume work.</a:t>
            </a:r>
          </a:p>
          <a:p>
            <a:pPr>
              <a:spcAft>
                <a:spcPts val="1200"/>
              </a:spcAft>
            </a:pPr>
            <a:r>
              <a:rPr b="0" sz="1500">
                <a:solidFill>
                  <a:srgbClr val="1C1917"/>
                </a:solidFill>
              </a:rPr>
              <a:t>What arrives at a human is a short queue of specific, evidenced objections.</a:t>
            </a:r>
          </a:p>
          <a:p>
            <a:pPr>
              <a:spcAft>
                <a:spcPts val="1200"/>
              </a:spcAft>
            </a:pPr>
            <a:r>
              <a:rPr b="0" sz="1500">
                <a:solidFill>
                  <a:srgbClr val="1C1917"/>
                </a:solidFill>
              </a:rPr>
              <a:t>Each one is clickable through to the claim, the quoted sentence, and the stored source document itself.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47857"/>
                </a:solidFill>
              </a:rPr>
              <a:t>Ibrance example course</a:t>
            </a:r>
            <a:r>
              <a:rPr sz="1500">
                <a:solidFill>
                  <a:srgbClr val="1C1917"/>
                </a:solidFill>
              </a:rPr>
              <a:t>  14 research sections · 341 citations · 109 findings · 7 blocking.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