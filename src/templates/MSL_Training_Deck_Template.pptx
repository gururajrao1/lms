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Endpoint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6C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DCE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Drug X</c:v>
                  </c:pt>
                  <c:pt idx="1">
                    <c:v>Comparator</c:v>
                  </c:pt>
                  <c:pt idx="2">
                    <c:v>Placebo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41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9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6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Responders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9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SCIENCE LIAISON TRAINING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[Drug Name / INN]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Scientific Deep-Dive — Field Medical Readiness Program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1463040" cy="0"/>
          </a:xfrm>
          <a:prstGeom prst="line">
            <a:avLst/>
          </a:prstGeom>
          <a:noFill/>
          <a:ln w="381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Area: [Insert]     |     Indication: [Insert]     |     Version: [X.X]     |     [Month Year]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Field Medical / MSL use only. Not for promotional use or external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modules move from disease foundation through compliant field engagement skills.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5989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time: [X hours] + workshop + assessment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80560" y="502920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5029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State Foundation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033272"/>
            <a:ext cx="73152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106424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10642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Science Deep-Dive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80560" y="1636776"/>
            <a:ext cx="73152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709928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7099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 Package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80560" y="2240280"/>
            <a:ext cx="73152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313432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3134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 &amp; Comparative Data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80560" y="2843784"/>
            <a:ext cx="73152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916936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91693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Needs &amp; Scientific Narrative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480560" y="3447288"/>
            <a:ext cx="73152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520440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5204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Deep-Dive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480560" y="4050792"/>
            <a:ext cx="73152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4123944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412394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Label Nuance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480560" y="4654296"/>
            <a:ext cx="73152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727448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0" y="472744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Field Engagement Skills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480560" y="5257800"/>
            <a:ext cx="73152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5330952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39" name="Text 37"/>
          <p:cNvSpPr/>
          <p:nvPr/>
        </p:nvSpPr>
        <p:spPr>
          <a:xfrm>
            <a:off x="448056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0" y="533095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&amp; Evidence Tracking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State Foundation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clinical context before introducing the product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694944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8013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508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Burden of Illness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801368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Prevalence/incidence, disease trajectory, patient quality-of-life and economic burden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694944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2004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9077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 (deep dive)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20040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and cellular drivers of disease; disease staging and progression markers.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15384"/>
            <a:ext cx="694944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45994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3068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Criteria &amp; Patient Journey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4599432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patients are identified, referred, and diagnosed; typical time-to-diagnosis pain points.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614416"/>
            <a:ext cx="694944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599846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5998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57058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Landscape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5998464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/ ESMO / ADA / [relevant body] recommendations, including version history and recent updates.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35240" y="1417320"/>
            <a:ext cx="4096512" cy="4709160"/>
          </a:xfrm>
          <a:prstGeom prst="roundRect">
            <a:avLst>
              <a:gd name="adj" fmla="val 178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INSIGHT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MSLs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09560" y="237744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every scientific exchange in the HCP's day-to-day clinical reality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MSLs to identify KOLs' unmet-need language for later use in narrative-building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MSLs to field diagnostic and staging questions accurately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region-specific epidemiology notes]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Science Deep-Dive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action, PK/PD, and formulation detail for scientific exchange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 — PATHWAY DIAGRAM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0" y="2852928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57400" y="246888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2697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852928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91840" y="246888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697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2852928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26280" y="246888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2697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receptor-binding / signaling-pathway diagram — replace placeholder with approved MOA graphic]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2619756" cy="1508760"/>
          </a:xfrm>
          <a:prstGeom prst="roundRect">
            <a:avLst>
              <a:gd name="adj" fmla="val 424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1572768"/>
            <a:ext cx="2290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/ Tmax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28232" y="1865376"/>
            <a:ext cx="22905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value + food effect]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11996" y="1463040"/>
            <a:ext cx="2619756" cy="1508760"/>
          </a:xfrm>
          <a:prstGeom prst="roundRect">
            <a:avLst>
              <a:gd name="adj" fmla="val 424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6588" y="1572768"/>
            <a:ext cx="2290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76588" y="1865376"/>
            <a:ext cx="22905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t½, steady-state timing]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200400"/>
            <a:ext cx="2619756" cy="1508760"/>
          </a:xfrm>
          <a:prstGeom prst="roundRect">
            <a:avLst>
              <a:gd name="adj" fmla="val 424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3310128"/>
            <a:ext cx="2290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28232" y="3602736"/>
            <a:ext cx="22905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CYP pathway, metabolites]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11996" y="3200400"/>
            <a:ext cx="2619756" cy="1508760"/>
          </a:xfrm>
          <a:prstGeom prst="roundRect">
            <a:avLst>
              <a:gd name="adj" fmla="val 424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76588" y="3310128"/>
            <a:ext cx="2290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Drug–Drug Interactions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76588" y="3602736"/>
            <a:ext cx="22905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key interactions &amp; management]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of action: [insert] · Duration of action: [insert] · Dose–response relationship: [insert summary]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Formulation/manufacturing nuances relevant to stability, storage, or administration: [insert]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Evidence Package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trial program — including studies not featured in promotional material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47188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72768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865376"/>
            <a:ext cx="23180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tolerability, PK in [population]. N=[x].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2988" y="1463040"/>
            <a:ext cx="2647188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7580" y="1572768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97580" y="1865376"/>
            <a:ext cx="23180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Dose-finding / proof-of-concept. Key endpoint: [insert].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08776" y="1463040"/>
            <a:ext cx="2647188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572768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(Pivotal)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73368" y="1865376"/>
            <a:ext cx="23180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[Trial name]. N=[x]. Primary endpoint: [insert].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84564" y="1463040"/>
            <a:ext cx="2647188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49156" y="1572768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/ RWE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49156" y="1865376"/>
            <a:ext cx="23180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Subgroup, sensitivity analyses; real-world data status.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EFFICACY RESULTS (Illustrative — replace with approved trial data)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3566160"/>
          <a:ext cx="6309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995160" y="3566160"/>
            <a:ext cx="4736592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69480" y="3749040"/>
            <a:ext cx="4206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methodology: [insert test, p-value, CI] — MSLs should be able to defend rigor if challenged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performance: [renal/hepatic impairment, elderly, pediatric — insert]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negative or discontinued studies and their learnings: [insert]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Intelligence &amp; Comparative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scientific exchange only — see compliance boundaries in Module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743200" cy="566928"/>
          </a:xfrm>
          <a:prstGeom prst="rect">
            <a:avLst/>
          </a:prstGeom>
          <a:solidFill>
            <a:srgbClr val="141A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843784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508760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[Drug Name]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44184" y="1508760"/>
            <a:ext cx="2843784" cy="566928"/>
          </a:xfrm>
          <a:prstGeom prst="rect">
            <a:avLst/>
          </a:prstGeom>
          <a:solidFill>
            <a:srgbClr val="141A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5624" y="1508760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87968" y="1508760"/>
            <a:ext cx="2843784" cy="566928"/>
          </a:xfrm>
          <a:prstGeom prst="rect">
            <a:avLst/>
          </a:prstGeom>
          <a:solidFill>
            <a:srgbClr val="141A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79408" y="1508760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075688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756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2075688"/>
            <a:ext cx="2843784" cy="566928"/>
          </a:xfrm>
          <a:prstGeom prst="rect">
            <a:avLst/>
          </a:prstGeom>
          <a:solidFill>
            <a:srgbClr val="E9EEFA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075688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44184" y="2075688"/>
            <a:ext cx="28437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2075688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87968" y="2075688"/>
            <a:ext cx="28437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2075688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642616"/>
            <a:ext cx="274320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426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(primary endpoint)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2642616"/>
            <a:ext cx="2843784" cy="566928"/>
          </a:xfrm>
          <a:prstGeom prst="rect">
            <a:avLst/>
          </a:prstGeom>
          <a:solidFill>
            <a:srgbClr val="E9EEFA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642616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44184" y="2642616"/>
            <a:ext cx="2843784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2642616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887968" y="2642616"/>
            <a:ext cx="2843784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9408" y="2642616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209544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2095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Safety Signal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00400" y="3209544"/>
            <a:ext cx="2843784" cy="566928"/>
          </a:xfrm>
          <a:prstGeom prst="rect">
            <a:avLst/>
          </a:prstGeom>
          <a:solidFill>
            <a:srgbClr val="E9EEFA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209544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44184" y="3209544"/>
            <a:ext cx="28437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5624" y="3209544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887968" y="3209544"/>
            <a:ext cx="28437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79408" y="3209544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3776472"/>
            <a:ext cx="274320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7764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Frequency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00400" y="3776472"/>
            <a:ext cx="2843784" cy="566928"/>
          </a:xfrm>
          <a:prstGeom prst="rect">
            <a:avLst/>
          </a:prstGeom>
          <a:solidFill>
            <a:srgbClr val="E9EEFA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776472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044184" y="3776472"/>
            <a:ext cx="2843784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35624" y="3776472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887968" y="3776472"/>
            <a:ext cx="2843784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79408" y="3776472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" y="434340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200400" y="4343400"/>
            <a:ext cx="2843784" cy="566928"/>
          </a:xfrm>
          <a:prstGeom prst="rect">
            <a:avLst/>
          </a:prstGeom>
          <a:solidFill>
            <a:srgbClr val="E9EEFA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343400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044184" y="4343400"/>
            <a:ext cx="28437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35624" y="4343400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887968" y="4343400"/>
            <a:ext cx="28437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79408" y="4343400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57200" y="5138928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FF6E5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52760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Cross-trial comparisons are NOT head-to-head data. Always present with population/design caveats and use only in reactive, non-promotional scientific exchange.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Unmet Needs &amp; Scientific Narrative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connective tissue between disease burden and product rationale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05784" cy="2011680"/>
          </a:xfrm>
          <a:prstGeom prst="roundRect">
            <a:avLst>
              <a:gd name="adj" fmla="val 318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7276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Gaps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865376"/>
            <a:ext cx="3276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current standard of care under-performs: [insert data/statistics].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1584" y="1463040"/>
            <a:ext cx="3605784" cy="2011680"/>
          </a:xfrm>
          <a:prstGeom prst="roundRect">
            <a:avLst>
              <a:gd name="adj" fmla="val 318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6176" y="157276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Tolerability Burden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56176" y="1865376"/>
            <a:ext cx="3276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AE-driven discontinuation, monitoring burden of current options: [insert].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5968" y="1463040"/>
            <a:ext cx="3605784" cy="2011680"/>
          </a:xfrm>
          <a:prstGeom prst="roundRect">
            <a:avLst>
              <a:gd name="adj" fmla="val 3182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0560" y="157276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Adherence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90560" y="1865376"/>
            <a:ext cx="3276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burden, regimen complexity, underserved subgroups: [insert].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SCIENTIFIC NARRATIVE ARC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2084832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40233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burden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42032" y="4434840"/>
            <a:ext cx="16459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06624" y="4023360"/>
            <a:ext cx="2084832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779776" y="40233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current care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91456" y="4434840"/>
            <a:ext cx="16459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956048" y="4023360"/>
            <a:ext cx="2084832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40233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rationale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434840"/>
            <a:ext cx="16459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05472" y="4023360"/>
            <a:ext cx="2084832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278624" y="40233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90304" y="4434840"/>
            <a:ext cx="16459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54896" y="4023360"/>
            <a:ext cx="2084832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528048" y="40233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benefit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insights &amp; advisory board learnings to reinforce the narrative: [insert]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supporting the unmet-need argument: [insert citations]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Deep-Dive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adverse event profile, mechanism-based rationale, and monitoring 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05784" cy="144018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7276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AEs (≥[x]%)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865376"/>
            <a:ext cx="32766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list with incidence rates and typical time-to-onset]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1584" y="1463040"/>
            <a:ext cx="3605784" cy="144018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6176" y="157276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/ Rare AEs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56176" y="1865376"/>
            <a:ext cx="32766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list with incidence and mechanism-based rationale]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5968" y="1463040"/>
            <a:ext cx="3605784" cy="144018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0560" y="157276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Boxed Warning(s)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90560" y="1865376"/>
            <a:ext cx="32766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verbatim boxed warning language and monitoring implications]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31820"/>
            <a:ext cx="3605784" cy="144018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4154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Requirements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" y="3534156"/>
            <a:ext cx="32766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labs, imaging, or clinical checks and frequency]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1584" y="3131820"/>
            <a:ext cx="3605784" cy="144018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6176" y="324154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REMS / Risk Mitigation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56176" y="3534156"/>
            <a:ext cx="32766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program details, prescriber/pharmacy requirements]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25968" y="3131820"/>
            <a:ext cx="3605784" cy="144018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0560" y="324154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Populations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90560" y="3534156"/>
            <a:ext cx="32766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[Renal/hepatic impairment, pregnancy/lactation, pediatric — insert]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006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MSLs must be able to explain the mechanistic 'why' behind each safety signal — not just recite the label.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of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Label Nuance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annotated label plus off-label evidence landscape for scientific exchange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970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970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Indication &amp; Population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84708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exact approved wording and patient criteria]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6164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6164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&amp; Precautions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49300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full list with clinical rationale]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52623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52623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846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Variations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513892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differences across FDA / EMA / other regions if global]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5605272" cy="4617720"/>
          </a:xfrm>
          <a:prstGeom prst="roundRect">
            <a:avLst>
              <a:gd name="adj" fmla="val 1584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OFF-LABEL DATA LANDSCAPE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05740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Investigational uses under study: [insert]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literature outside approved label: [insert citations]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trials in additional indications: [insert, with phase and expected readout]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5029200"/>
            <a:ext cx="5056632" cy="868680"/>
          </a:xfrm>
          <a:prstGeom prst="roundRect">
            <a:avLst>
              <a:gd name="adj" fmla="val 6316"/>
            </a:avLst>
          </a:prstGeom>
          <a:solidFill>
            <a:srgbClr val="FFF6E5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5029200"/>
            <a:ext cx="4690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MSL scientific exchange and reactive, unsolicited questions only — never proactive promotion.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of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Field Engagement Skills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training every MSL must demonstrate competency in before field deployment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522976" cy="1440180"/>
          </a:xfrm>
          <a:prstGeom prst="roundRect">
            <a:avLst>
              <a:gd name="adj" fmla="val 4444"/>
            </a:avLst>
          </a:prstGeom>
          <a:solidFill>
            <a:srgbClr val="44496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7276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On-Label vs. Off-Label Boundaries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1865376"/>
            <a:ext cx="5193792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examples of compliant vs. non-compliant responses; when to redirect to Medical Information.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08776" y="1463040"/>
            <a:ext cx="5522976" cy="1440180"/>
          </a:xfrm>
          <a:prstGeom prst="roundRect">
            <a:avLst>
              <a:gd name="adj" fmla="val 4444"/>
            </a:avLst>
          </a:prstGeom>
          <a:solidFill>
            <a:srgbClr val="44496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57276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Unsolicited Requests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73368" y="1865376"/>
            <a:ext cx="5193792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documentation and escalation pathway for off-label questions raised by HCPs.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31820"/>
            <a:ext cx="5522976" cy="1440180"/>
          </a:xfrm>
          <a:prstGeom prst="roundRect">
            <a:avLst>
              <a:gd name="adj" fmla="val 4444"/>
            </a:avLst>
          </a:prstGeom>
          <a:solidFill>
            <a:srgbClr val="44496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24154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Balance &amp; Documentation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" y="3534156"/>
            <a:ext cx="5193792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for presenting efficacy and risk information with appropriate context every time.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3131820"/>
            <a:ext cx="5522976" cy="1440180"/>
          </a:xfrm>
          <a:prstGeom prst="roundRect">
            <a:avLst>
              <a:gd name="adj" fmla="val 4444"/>
            </a:avLst>
          </a:prstGeom>
          <a:solidFill>
            <a:srgbClr val="44496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24154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Objection-Handling Scenarios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73368" y="3534156"/>
            <a:ext cx="5193792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based FAQ library covering anticipated competitive and safety challenges.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E8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006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checkpoint: MSLs must pass a scenario-based assessment on this module before independent field engagement.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of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 &amp; Evidence Tracking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Bibliography, critical appraisal, and forward-looking evidence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et al., Journal, Year] — Pivotal trial primary publication; critical appraisal notes: [insert]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et al., Journal, Year] — Long-term safety follow-up; critical appraisal notes: [insert]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et al., Journal, Year] — Subgroup / post-hoc analysis; critical appraisal notes: [insert]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et al., Journal, Year] — Real-world evidence study; critical appraisal notes: [insert]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additional key publications as available]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6640" y="1508760"/>
            <a:ext cx="4325112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10312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publications in preparation: [insert]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congress presentations: [insert conference, date]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 expected to read out: [insert timing]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of 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Delivery Format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content should reach the MSL team beyond this deck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47188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64208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Deck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1956816"/>
            <a:ext cx="23180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— full scientific depth for self-study and reference.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2988" y="1554480"/>
            <a:ext cx="2647188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7580" y="1664208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Binder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97580" y="1956816"/>
            <a:ext cx="23180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leave-behind with label, key data tables, and citations.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08776" y="1554480"/>
            <a:ext cx="2647188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664208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Workshop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73368" y="1956816"/>
            <a:ext cx="23180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Facilitator-led session with role-play and objection-handling defense.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84564" y="1554480"/>
            <a:ext cx="2647188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9156" y="1664208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Assessment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49156" y="1956816"/>
            <a:ext cx="23180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knowledge check required before field deployment.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cadence: initial certification + quarterly refreshers as new data emerges (publications, label updates, competitive shifts).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7455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54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&amp; Review Cycle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owner: [Medical Affairs / Field Medical Training Lead]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review required prior to each update: [insert cycle, e.g., every 6 months or upon label change]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INTERNAL TRAINING  |  CONFIDENTIAL — FOR FIELD MEDICAL USE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Field Readiness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Medical Affairs / Training Lead: [name, email]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Version [X.X]  ·  Last MLR Review [date]  ·  Next Scheduled Review [date]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FIELD MEDICAL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2026-07-14T11:54:10Z</dcterms:created>
  <dcterms:modified xsi:type="dcterms:W3CDTF">2026-07-14T11:54:10Z</dcterms:modified>
</cp:coreProperties>
</file>