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Primary Endpoint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15A6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BFE3E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[Drug Name]</c:v>
                  </c:pt>
                  <c:pt idx="1">
                    <c:v>Standard of Care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62</c:v>
                </c:pt>
                <c:pt idx="1">
                  <c:v>38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15A6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1424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2EFEE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% Achieving Endpoint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1424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5A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15A66"/>
          </a:solidFill>
          <a:ln/>
        </p:spPr>
      </p:sp>
      <p:sp>
        <p:nvSpPr>
          <p:cNvPr id="3" name="Shape 1"/>
          <p:cNvSpPr/>
          <p:nvPr/>
        </p:nvSpPr>
        <p:spPr>
          <a:xfrm>
            <a:off x="8503920" y="-1828800"/>
            <a:ext cx="5943600" cy="59436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" name="Shape 2"/>
          <p:cNvSpPr/>
          <p:nvPr/>
        </p:nvSpPr>
        <p:spPr>
          <a:xfrm>
            <a:off x="9875520" y="4389120"/>
            <a:ext cx="3657600" cy="36576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9659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EDUCATION FOR HEALTHCARE PROFESSIONALS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33172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[Drug Name / INN]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640080" y="329184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Need to Know for Clinical Practice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3886200"/>
            <a:ext cx="1463040" cy="0"/>
          </a:xfrm>
          <a:prstGeom prst="line">
            <a:avLst/>
          </a:prstGeom>
          <a:noFill/>
          <a:ln w="38100">
            <a:solidFill>
              <a:srgbClr val="F4A25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40690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D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Indication: [Insert]     |     Approved Population: [Insert]     |     [Month Year]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62636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FC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Please see accompanying full Prescribing Information, including Boxed Warning if applicable.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Cover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96596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practical, on-label overview to support confident prescribing decisions.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59893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ED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time: [X minutes]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480560" y="548640"/>
            <a:ext cx="384048" cy="384048"/>
          </a:xfrm>
          <a:prstGeom prst="ellipse">
            <a:avLst/>
          </a:prstGeom>
          <a:solidFill>
            <a:srgbClr val="F2FAF9"/>
          </a:solidFill>
          <a:ln/>
        </p:spPr>
      </p:sp>
      <p:sp>
        <p:nvSpPr>
          <p:cNvPr id="7" name="Text 5"/>
          <p:cNvSpPr/>
          <p:nvPr/>
        </p:nvSpPr>
        <p:spPr>
          <a:xfrm>
            <a:off x="4480560" y="548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15A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0" y="548640"/>
            <a:ext cx="6766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1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Overview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480560" y="1115568"/>
            <a:ext cx="7315200" cy="0"/>
          </a:xfrm>
          <a:prstGeom prst="line">
            <a:avLst/>
          </a:prstGeom>
          <a:noFill/>
          <a:ln w="12700">
            <a:solidFill>
              <a:srgbClr val="E2EF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80560" y="1207008"/>
            <a:ext cx="384048" cy="384048"/>
          </a:xfrm>
          <a:prstGeom prst="ellipse">
            <a:avLst/>
          </a:prstGeom>
          <a:solidFill>
            <a:srgbClr val="F2FAF9"/>
          </a:solidFill>
          <a:ln/>
        </p:spPr>
      </p:sp>
      <p:sp>
        <p:nvSpPr>
          <p:cNvPr id="11" name="Text 9"/>
          <p:cNvSpPr/>
          <p:nvPr/>
        </p:nvSpPr>
        <p:spPr>
          <a:xfrm>
            <a:off x="4480560" y="1207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15A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0" y="1207008"/>
            <a:ext cx="6766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1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Introduction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480560" y="1773936"/>
            <a:ext cx="7315200" cy="0"/>
          </a:xfrm>
          <a:prstGeom prst="line">
            <a:avLst/>
          </a:prstGeom>
          <a:noFill/>
          <a:ln w="12700">
            <a:solidFill>
              <a:srgbClr val="E2EF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80560" y="1865376"/>
            <a:ext cx="384048" cy="384048"/>
          </a:xfrm>
          <a:prstGeom prst="ellipse">
            <a:avLst/>
          </a:prstGeom>
          <a:solidFill>
            <a:srgbClr val="F2FAF9"/>
          </a:solidFill>
          <a:ln/>
        </p:spPr>
      </p:sp>
      <p:sp>
        <p:nvSpPr>
          <p:cNvPr id="15" name="Text 13"/>
          <p:cNvSpPr/>
          <p:nvPr/>
        </p:nvSpPr>
        <p:spPr>
          <a:xfrm>
            <a:off x="4480560" y="1865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15A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29200" y="1865376"/>
            <a:ext cx="6766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1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Efficacy Summary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480560" y="2432304"/>
            <a:ext cx="7315200" cy="0"/>
          </a:xfrm>
          <a:prstGeom prst="line">
            <a:avLst/>
          </a:prstGeom>
          <a:noFill/>
          <a:ln w="12700">
            <a:solidFill>
              <a:srgbClr val="E2EF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80560" y="2523744"/>
            <a:ext cx="384048" cy="384048"/>
          </a:xfrm>
          <a:prstGeom prst="ellipse">
            <a:avLst/>
          </a:prstGeom>
          <a:solidFill>
            <a:srgbClr val="F2FAF9"/>
          </a:solidFill>
          <a:ln/>
        </p:spPr>
      </p:sp>
      <p:sp>
        <p:nvSpPr>
          <p:cNvPr id="19" name="Text 17"/>
          <p:cNvSpPr/>
          <p:nvPr/>
        </p:nvSpPr>
        <p:spPr>
          <a:xfrm>
            <a:off x="4480560" y="25237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15A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029200" y="2523744"/>
            <a:ext cx="6766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1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&amp; Tolerability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480560" y="3090672"/>
            <a:ext cx="7315200" cy="0"/>
          </a:xfrm>
          <a:prstGeom prst="line">
            <a:avLst/>
          </a:prstGeom>
          <a:noFill/>
          <a:ln w="12700">
            <a:solidFill>
              <a:srgbClr val="E2EFE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480560" y="3182112"/>
            <a:ext cx="384048" cy="384048"/>
          </a:xfrm>
          <a:prstGeom prst="ellipse">
            <a:avLst/>
          </a:prstGeom>
          <a:solidFill>
            <a:srgbClr val="F2FAF9"/>
          </a:solidFill>
          <a:ln/>
        </p:spPr>
      </p:sp>
      <p:sp>
        <p:nvSpPr>
          <p:cNvPr id="23" name="Text 21"/>
          <p:cNvSpPr/>
          <p:nvPr/>
        </p:nvSpPr>
        <p:spPr>
          <a:xfrm>
            <a:off x="4480560" y="31821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15A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029200" y="3182112"/>
            <a:ext cx="6766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1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Dosing &amp; Administration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4480560" y="3749040"/>
            <a:ext cx="7315200" cy="0"/>
          </a:xfrm>
          <a:prstGeom prst="line">
            <a:avLst/>
          </a:prstGeom>
          <a:noFill/>
          <a:ln w="12700">
            <a:solidFill>
              <a:srgbClr val="E2EFE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480560" y="3840480"/>
            <a:ext cx="384048" cy="384048"/>
          </a:xfrm>
          <a:prstGeom prst="ellipse">
            <a:avLst/>
          </a:prstGeom>
          <a:solidFill>
            <a:srgbClr val="F2FAF9"/>
          </a:solidFill>
          <a:ln/>
        </p:spPr>
      </p:sp>
      <p:sp>
        <p:nvSpPr>
          <p:cNvPr id="27" name="Text 25"/>
          <p:cNvSpPr/>
          <p:nvPr/>
        </p:nvSpPr>
        <p:spPr>
          <a:xfrm>
            <a:off x="4480560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15A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029200" y="3840480"/>
            <a:ext cx="6766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1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Positioning in Practice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4480560" y="4407408"/>
            <a:ext cx="7315200" cy="0"/>
          </a:xfrm>
          <a:prstGeom prst="line">
            <a:avLst/>
          </a:prstGeom>
          <a:noFill/>
          <a:ln w="12700">
            <a:solidFill>
              <a:srgbClr val="E2EFE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480560" y="4498848"/>
            <a:ext cx="384048" cy="384048"/>
          </a:xfrm>
          <a:prstGeom prst="ellipse">
            <a:avLst/>
          </a:prstGeom>
          <a:solidFill>
            <a:srgbClr val="F2FAF9"/>
          </a:solidFill>
          <a:ln/>
        </p:spPr>
      </p:sp>
      <p:sp>
        <p:nvSpPr>
          <p:cNvPr id="31" name="Text 29"/>
          <p:cNvSpPr/>
          <p:nvPr/>
        </p:nvSpPr>
        <p:spPr>
          <a:xfrm>
            <a:off x="4480560" y="4498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15A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029200" y="4498848"/>
            <a:ext cx="6766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1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Support Resources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4480560" y="5065776"/>
            <a:ext cx="7315200" cy="0"/>
          </a:xfrm>
          <a:prstGeom prst="line">
            <a:avLst/>
          </a:prstGeom>
          <a:noFill/>
          <a:ln w="12700">
            <a:solidFill>
              <a:srgbClr val="E2EFE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480560" y="5157216"/>
            <a:ext cx="384048" cy="384048"/>
          </a:xfrm>
          <a:prstGeom prst="ellipse">
            <a:avLst/>
          </a:prstGeom>
          <a:solidFill>
            <a:srgbClr val="F2FAF9"/>
          </a:solidFill>
          <a:ln/>
        </p:spPr>
      </p:sp>
      <p:sp>
        <p:nvSpPr>
          <p:cNvPr id="35" name="Text 33"/>
          <p:cNvSpPr/>
          <p:nvPr/>
        </p:nvSpPr>
        <p:spPr>
          <a:xfrm>
            <a:off x="4480560" y="51572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15A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029200" y="5157216"/>
            <a:ext cx="6766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1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Tools &amp; Quick Reference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34440" y="384048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15A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Disease Overview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234440" y="886968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7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brief clinical refresher before introducing the product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5522976" cy="1920240"/>
          </a:xfrm>
          <a:prstGeom prst="roundRect">
            <a:avLst>
              <a:gd name="adj" fmla="val 3333"/>
            </a:avLst>
          </a:prstGeom>
          <a:solidFill>
            <a:srgbClr val="F2FAF9"/>
          </a:solidFill>
          <a:ln w="9525">
            <a:solidFill>
              <a:srgbClr val="D9EE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618488"/>
            <a:ext cx="5193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1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Burden &amp; Patient Impact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21792" y="1911096"/>
            <a:ext cx="519379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14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concise prevalence/impact statistics relevant to your practice setting]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208776" y="1508760"/>
            <a:ext cx="5522976" cy="1920240"/>
          </a:xfrm>
          <a:prstGeom prst="roundRect">
            <a:avLst>
              <a:gd name="adj" fmla="val 3333"/>
            </a:avLst>
          </a:prstGeom>
          <a:solidFill>
            <a:srgbClr val="F2FAF9"/>
          </a:solidFill>
          <a:ln w="9525">
            <a:solidFill>
              <a:srgbClr val="D9EE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73368" y="1618488"/>
            <a:ext cx="5193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1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Treatment Landscape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373368" y="1911096"/>
            <a:ext cx="519379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14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brief overview of standard of care and where gaps remain]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3657600"/>
            <a:ext cx="11274552" cy="2103120"/>
          </a:xfrm>
          <a:prstGeom prst="roundRect">
            <a:avLst>
              <a:gd name="adj" fmla="val 3478"/>
            </a:avLst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84048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gap exists today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77240" y="4251960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D7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1-2 key unmet needs relevant to your patients, in plain clinical language]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D7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how this shapes treatment decisions today]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HEALTHCARE PROFESSIONAL USE  |  See full Prescribing Information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360152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of 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34440" y="384048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15A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Introduction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234440" y="886968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7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 of action, indication, and what to expect clinically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5532120" cy="3200400"/>
          </a:xfrm>
          <a:prstGeom prst="roundRect">
            <a:avLst>
              <a:gd name="adj" fmla="val 2286"/>
            </a:avLst>
          </a:prstGeom>
          <a:solidFill>
            <a:srgbClr val="F2FAF9"/>
          </a:solidFill>
          <a:ln w="12700">
            <a:solidFill>
              <a:srgbClr val="D9EE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645920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7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 (SIMPLIFIED)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14400" y="2468880"/>
            <a:ext cx="1051560" cy="10515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88036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1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965960" y="2999232"/>
            <a:ext cx="548640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514600" y="2468880"/>
            <a:ext cx="1051560" cy="10515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14600" y="288036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1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566160" y="2999232"/>
            <a:ext cx="548640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114800" y="2468880"/>
            <a:ext cx="1051560" cy="10515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0" y="288036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1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31520" y="3794760"/>
            <a:ext cx="4983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E7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simplified, patient-friendly MOA graphic — approved visual asset]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263640" y="1508760"/>
            <a:ext cx="5468112" cy="3200400"/>
          </a:xfrm>
          <a:prstGeom prst="roundRect">
            <a:avLst>
              <a:gd name="adj" fmla="val 2000"/>
            </a:avLst>
          </a:prstGeom>
          <a:solidFill>
            <a:srgbClr val="F2FAF9"/>
          </a:solidFill>
          <a:ln w="9525">
            <a:solidFill>
              <a:srgbClr val="D9EE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28232" y="1618488"/>
            <a:ext cx="5138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1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Indication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428232" y="1911096"/>
            <a:ext cx="5138928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14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exact approved indication wording]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263640" y="2331720"/>
            <a:ext cx="5468112" cy="914400"/>
          </a:xfrm>
          <a:prstGeom prst="roundRect">
            <a:avLst>
              <a:gd name="adj" fmla="val 7000"/>
            </a:avLst>
          </a:prstGeom>
          <a:solidFill>
            <a:srgbClr val="F2FAF9"/>
          </a:solidFill>
          <a:ln w="9525">
            <a:solidFill>
              <a:srgbClr val="D9EE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28232" y="2441448"/>
            <a:ext cx="5138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1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Patient Population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428232" y="2734056"/>
            <a:ext cx="5138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14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approved population criteria]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263640" y="3383280"/>
            <a:ext cx="5468112" cy="1325880"/>
          </a:xfrm>
          <a:prstGeom prst="roundRect">
            <a:avLst>
              <a:gd name="adj" fmla="val 4828"/>
            </a:avLst>
          </a:prstGeom>
          <a:solidFill>
            <a:srgbClr val="028090"/>
          </a:solidFill>
          <a:ln w="9525">
            <a:solidFill>
              <a:srgbClr val="D9EE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28232" y="3493008"/>
            <a:ext cx="5138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Expect Clinically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428232" y="3785616"/>
            <a:ext cx="51389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7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Onset of action: [insert]   ·   Typical time to observable effect: [insert]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HEALTHCARE PROFESSIONAL USE  |  See full Prescribing Information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360152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of 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34440" y="384048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15A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Clinical Efficacy Summary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234440" y="886968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7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pivotal trial results — approved claims only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1508760"/>
          <a:ext cx="566928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475488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E7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data — replace with approved trial results and endpoint definition.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355080" y="1508760"/>
            <a:ext cx="5376672" cy="3566160"/>
          </a:xfrm>
          <a:prstGeom prst="roundRect">
            <a:avLst>
              <a:gd name="adj" fmla="val 2051"/>
            </a:avLst>
          </a:prstGeom>
          <a:solidFill>
            <a:srgbClr val="F2FAF9"/>
          </a:solidFill>
          <a:ln w="12700">
            <a:solidFill>
              <a:srgbClr val="D9EEE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629400" y="16916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5A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Trial Snapshot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629400" y="2103120"/>
            <a:ext cx="48463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14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 name / design: [insert, e.g., randomized, double-blind, N=x]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14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endpoint: [insert] — statistically significant vs. [comparator]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14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secondary endpoints: [insert]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14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population studied: [insert]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HEALTHCARE PROFESSIONAL USE  |  See full Prescribing Information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0360152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of 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34440" y="384048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15A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Safety &amp; Tolerability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234440" y="886968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7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safety profile, monitoring, and who should not receive this drug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3605784" cy="2103120"/>
          </a:xfrm>
          <a:prstGeom prst="roundRect">
            <a:avLst>
              <a:gd name="adj" fmla="val 3043"/>
            </a:avLst>
          </a:prstGeom>
          <a:solidFill>
            <a:srgbClr val="F2FAF9"/>
          </a:solidFill>
          <a:ln w="9525">
            <a:solidFill>
              <a:srgbClr val="D9EE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618488"/>
            <a:ext cx="3276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1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Common AEs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21792" y="1911096"/>
            <a:ext cx="32766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14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list with incidence rates, e.g., ≥5%]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91584" y="1508760"/>
            <a:ext cx="3605784" cy="2103120"/>
          </a:xfrm>
          <a:prstGeom prst="roundRect">
            <a:avLst>
              <a:gd name="adj" fmla="val 3043"/>
            </a:avLst>
          </a:prstGeom>
          <a:solidFill>
            <a:srgbClr val="F2FAF9"/>
          </a:solidFill>
          <a:ln w="9525">
            <a:solidFill>
              <a:srgbClr val="D9EE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56176" y="1618488"/>
            <a:ext cx="3276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1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Parameters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456176" y="1911096"/>
            <a:ext cx="32766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14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required labs/checks and frequency]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125968" y="1508760"/>
            <a:ext cx="3605784" cy="2103120"/>
          </a:xfrm>
          <a:prstGeom prst="roundRect">
            <a:avLst>
              <a:gd name="adj" fmla="val 3043"/>
            </a:avLst>
          </a:prstGeom>
          <a:solidFill>
            <a:srgbClr val="F2FAF9"/>
          </a:solidFill>
          <a:ln w="9525">
            <a:solidFill>
              <a:srgbClr val="D9EE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90560" y="1618488"/>
            <a:ext cx="3276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1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AEs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290560" y="1911096"/>
            <a:ext cx="32766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14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dose modification / supportive care guidance]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3794760"/>
            <a:ext cx="11274552" cy="1920240"/>
          </a:xfrm>
          <a:prstGeom prst="roundRect">
            <a:avLst>
              <a:gd name="adj" fmla="val 3810"/>
            </a:avLst>
          </a:prstGeom>
          <a:solidFill>
            <a:srgbClr val="FFF3E9"/>
          </a:solidFill>
          <a:ln w="15875">
            <a:solidFill>
              <a:srgbClr val="F4A25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397764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A4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Contraindications &amp; Boxed Warning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77240" y="4370832"/>
            <a:ext cx="10607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8A4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boxed warning language, if applicable]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8A4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should NOT receive this drug: [insert contraindications]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HEALTHCARE PROFESSIONAL USE  |  See full Prescribing Information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360152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of 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34440" y="384048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15A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Dosing &amp; Administration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234440" y="886968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7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Practical, step-by-step prescribing guidance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F2FAF9"/>
          </a:solidFill>
          <a:ln w="12700">
            <a:solidFill>
              <a:srgbClr val="D9EE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04188" y="1783080"/>
            <a:ext cx="512064" cy="51206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1504188" y="17830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94360" y="24231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1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Dose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2926080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14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dose, frequency, route]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063240" y="2788920"/>
            <a:ext cx="201168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264408" y="160020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F2FAF9"/>
          </a:solidFill>
          <a:ln w="12700">
            <a:solidFill>
              <a:srgbClr val="D9EE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11396" y="1783080"/>
            <a:ext cx="512064" cy="51206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4311396" y="17830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401568" y="24231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1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Titration (if applicable)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01568" y="2926080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14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titration schedule]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870448" y="2788920"/>
            <a:ext cx="201168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071616" y="160020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F2FAF9"/>
          </a:solidFill>
          <a:ln w="12700">
            <a:solidFill>
              <a:srgbClr val="D9EE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118604" y="1783080"/>
            <a:ext cx="512064" cy="51206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0" name="Text 18"/>
          <p:cNvSpPr/>
          <p:nvPr/>
        </p:nvSpPr>
        <p:spPr>
          <a:xfrm>
            <a:off x="7118604" y="17830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208776" y="24231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1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Administration Technique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208776" y="2926080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14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injection/infusion/oral instructions]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677656" y="2788920"/>
            <a:ext cx="201168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8878824" y="160020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F2FAF9"/>
          </a:solidFill>
          <a:ln w="12700">
            <a:solidFill>
              <a:srgbClr val="D9EE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925812" y="1783080"/>
            <a:ext cx="512064" cy="51206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6" name="Text 24"/>
          <p:cNvSpPr/>
          <p:nvPr/>
        </p:nvSpPr>
        <p:spPr>
          <a:xfrm>
            <a:off x="9925812" y="17830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9015984" y="24231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1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Interaction Checks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015984" y="2926080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14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key interactions to screen for]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4297680"/>
            <a:ext cx="11274552" cy="1417320"/>
          </a:xfrm>
          <a:prstGeom prst="roundRect">
            <a:avLst>
              <a:gd name="adj" fmla="val 4516"/>
            </a:avLst>
          </a:prstGeom>
          <a:solidFill>
            <a:srgbClr val="028090"/>
          </a:solidFill>
          <a:ln/>
        </p:spPr>
      </p:sp>
      <p:sp>
        <p:nvSpPr>
          <p:cNvPr id="30" name="Text 28"/>
          <p:cNvSpPr/>
          <p:nvPr/>
        </p:nvSpPr>
        <p:spPr>
          <a:xfrm>
            <a:off x="777240" y="4297680"/>
            <a:ext cx="10607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Dose adjustments for renal/hepatic impairment or other special populations: [insert]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HEALTHCARE PROFESSIONAL USE  |  See full Prescribing Information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360152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of 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34440" y="384048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15A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Positioning in Practice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234440" y="886968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7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this fits within guideline-recommended treatment pathways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737360"/>
            <a:ext cx="2514600" cy="1005840"/>
          </a:xfrm>
          <a:prstGeom prst="roundRect">
            <a:avLst>
              <a:gd name="adj" fmla="val 7273"/>
            </a:avLst>
          </a:prstGeom>
          <a:solidFill>
            <a:srgbClr val="F2FAF9"/>
          </a:solidFill>
          <a:ln w="15875">
            <a:solidFill>
              <a:srgbClr val="D9EE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73736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1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154680" y="2240280"/>
            <a:ext cx="32004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474720" y="1737360"/>
            <a:ext cx="2514600" cy="1005840"/>
          </a:xfrm>
          <a:prstGeom prst="roundRect">
            <a:avLst>
              <a:gd name="adj" fmla="val 7273"/>
            </a:avLst>
          </a:prstGeom>
          <a:solidFill>
            <a:srgbClr val="F2FAF9"/>
          </a:solidFill>
          <a:ln w="15875">
            <a:solidFill>
              <a:srgbClr val="D9EE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66160" y="173736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1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First-line SOC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989320" y="2240280"/>
            <a:ext cx="32004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309360" y="1737360"/>
            <a:ext cx="2514600" cy="1005840"/>
          </a:xfrm>
          <a:prstGeom prst="roundRect">
            <a:avLst>
              <a:gd name="adj" fmla="val 7273"/>
            </a:avLst>
          </a:prstGeom>
          <a:solidFill>
            <a:srgbClr val="028090"/>
          </a:solidFill>
          <a:ln w="15875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173736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[Drug Name] considered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823960" y="2240280"/>
            <a:ext cx="32004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9144000" y="1737360"/>
            <a:ext cx="2514600" cy="1005840"/>
          </a:xfrm>
          <a:prstGeom prst="roundRect">
            <a:avLst>
              <a:gd name="adj" fmla="val 7273"/>
            </a:avLst>
          </a:prstGeom>
          <a:solidFill>
            <a:srgbClr val="F2FAF9"/>
          </a:solidFill>
          <a:ln w="15875">
            <a:solidFill>
              <a:srgbClr val="D9EE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235440" y="173736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1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 monitoring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57200" y="3108960"/>
            <a:ext cx="5522976" cy="2651760"/>
          </a:xfrm>
          <a:prstGeom prst="roundRect">
            <a:avLst>
              <a:gd name="adj" fmla="val 2414"/>
            </a:avLst>
          </a:prstGeom>
          <a:solidFill>
            <a:srgbClr val="F2FAF9"/>
          </a:solidFill>
          <a:ln w="9525">
            <a:solidFill>
              <a:srgbClr val="D9EE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" y="3218688"/>
            <a:ext cx="5193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1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Guideline Alignment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21792" y="3511296"/>
            <a:ext cx="5193792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14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relevant guideline reference and recommendation strength — as labeled]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208776" y="3108960"/>
            <a:ext cx="5522976" cy="2651760"/>
          </a:xfrm>
          <a:prstGeom prst="roundRect">
            <a:avLst>
              <a:gd name="adj" fmla="val 2414"/>
            </a:avLst>
          </a:prstGeom>
          <a:solidFill>
            <a:srgbClr val="F2FAF9"/>
          </a:solidFill>
          <a:ln w="9525">
            <a:solidFill>
              <a:srgbClr val="D9EE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73368" y="3218688"/>
            <a:ext cx="5193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1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Selection Criteria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373368" y="3511296"/>
            <a:ext cx="5193792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14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clinical characteristics that identify appropriate candidates]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HEALTHCARE PROFESSIONAL USE  |  See full Prescribing Information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360152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of 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34440" y="384048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15A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Patient Support Resources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234440" y="886968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7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Helping your patients access and stay on therapy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11274552" cy="1234440"/>
          </a:xfrm>
          <a:prstGeom prst="roundRect">
            <a:avLst>
              <a:gd name="adj" fmla="val 5926"/>
            </a:avLst>
          </a:prstGeom>
          <a:solidFill>
            <a:srgbClr val="F2FAF9"/>
          </a:solidFill>
          <a:ln w="9525">
            <a:solidFill>
              <a:srgbClr val="D9EE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1792" y="1924812"/>
            <a:ext cx="402336" cy="40233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9248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70432" y="1600200"/>
            <a:ext cx="10360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1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&amp; Affordability Programs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70432" y="1892808"/>
            <a:ext cx="103601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14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copay assistance, patient assistance program details, and enrollment process]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2971800"/>
            <a:ext cx="11274552" cy="1234440"/>
          </a:xfrm>
          <a:prstGeom prst="roundRect">
            <a:avLst>
              <a:gd name="adj" fmla="val 5926"/>
            </a:avLst>
          </a:prstGeom>
          <a:solidFill>
            <a:srgbClr val="F2FAF9"/>
          </a:solidFill>
          <a:ln w="9525">
            <a:solidFill>
              <a:srgbClr val="D9EE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1792" y="3387852"/>
            <a:ext cx="402336" cy="40233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" y="33878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70432" y="3063240"/>
            <a:ext cx="10360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1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Education Materials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70432" y="3355848"/>
            <a:ext cx="103601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14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overview of what patients receive — brochures, app, video content]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4434840"/>
            <a:ext cx="11274552" cy="1234440"/>
          </a:xfrm>
          <a:prstGeom prst="roundRect">
            <a:avLst>
              <a:gd name="adj" fmla="val 5926"/>
            </a:avLst>
          </a:prstGeom>
          <a:solidFill>
            <a:srgbClr val="F2FAF9"/>
          </a:solidFill>
          <a:ln w="9525">
            <a:solidFill>
              <a:srgbClr val="D9EE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1792" y="4850892"/>
            <a:ext cx="402336" cy="40233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621792" y="48508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70432" y="4526280"/>
            <a:ext cx="10360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1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Adherence Support Tools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70432" y="4818888"/>
            <a:ext cx="103601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14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reminder programs, nurse support lines, or digital tools available]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HEALTHCARE PROFESSIONAL USE  |  See full Prescribing Information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360152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of 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34440" y="384048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15A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Practical Tools &amp; Quick Reference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234440" y="886968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7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Take-away job aids for day-to-day prescribing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5522976" cy="1211580"/>
          </a:xfrm>
          <a:prstGeom prst="roundRect">
            <a:avLst>
              <a:gd name="adj" fmla="val 5283"/>
            </a:avLst>
          </a:prstGeom>
          <a:solidFill>
            <a:srgbClr val="F2FAF9"/>
          </a:solidFill>
          <a:ln w="9525">
            <a:solidFill>
              <a:srgbClr val="D9EE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618488"/>
            <a:ext cx="5193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1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Quick-Reference Dosing Card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21792" y="1911096"/>
            <a:ext cx="5193792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14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Printable summary of dosing, titration, and administration steps.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208776" y="1508760"/>
            <a:ext cx="5522976" cy="1211580"/>
          </a:xfrm>
          <a:prstGeom prst="roundRect">
            <a:avLst>
              <a:gd name="adj" fmla="val 5283"/>
            </a:avLst>
          </a:prstGeom>
          <a:solidFill>
            <a:srgbClr val="F2FAF9"/>
          </a:solidFill>
          <a:ln w="9525">
            <a:solidFill>
              <a:srgbClr val="D9EE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73368" y="1618488"/>
            <a:ext cx="5193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1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Interaction Checklist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373368" y="1911096"/>
            <a:ext cx="5193792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14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At-a-glance checklist of major interactions to screen before prescribing.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948940"/>
            <a:ext cx="5522976" cy="1211580"/>
          </a:xfrm>
          <a:prstGeom prst="roundRect">
            <a:avLst>
              <a:gd name="adj" fmla="val 5283"/>
            </a:avLst>
          </a:prstGeom>
          <a:solidFill>
            <a:srgbClr val="F2FAF9"/>
          </a:solidFill>
          <a:ln w="9525">
            <a:solidFill>
              <a:srgbClr val="D9EE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3058668"/>
            <a:ext cx="5193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1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FAQ Sheet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21792" y="3351276"/>
            <a:ext cx="5193792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14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MLR-approved answers to commonly asked prescriber questions.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08776" y="2948940"/>
            <a:ext cx="5522976" cy="1211580"/>
          </a:xfrm>
          <a:prstGeom prst="roundRect">
            <a:avLst>
              <a:gd name="adj" fmla="val 5283"/>
            </a:avLst>
          </a:prstGeom>
          <a:solidFill>
            <a:srgbClr val="F2FAF9"/>
          </a:solidFill>
          <a:ln w="9525">
            <a:solidFill>
              <a:srgbClr val="D9EE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73368" y="3058668"/>
            <a:ext cx="5193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1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Adverse Event Reporting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373368" y="3351276"/>
            <a:ext cx="5193792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14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and where to report adverse events: [insert reporting contact/portal]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4434840"/>
            <a:ext cx="11274552" cy="1371600"/>
          </a:xfrm>
          <a:prstGeom prst="roundRect">
            <a:avLst>
              <a:gd name="adj" fmla="val 5333"/>
            </a:avLst>
          </a:prstGeom>
          <a:solidFill>
            <a:srgbClr val="015A66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4434840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D7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Please see the full Prescribing Information for complete safety information, including Boxed Warning if applicable.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HEALTHCARE PROFESSIONAL USE  |  See full Prescribing Information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360152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of 8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15A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15A66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4114800"/>
            <a:ext cx="5486400" cy="54864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28600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About [Drug Name]?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Medical Information: [phone / email / portal]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3474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D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report an adverse event: [reporting contact/portal]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626364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FC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material has been reviewed and approved for HCP distribution. Content Version [X.X] · [Date]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2026-07-14T11:55:24Z</dcterms:created>
  <dcterms:modified xsi:type="dcterms:W3CDTF">2026-07-14T11:55:24Z</dcterms:modified>
</cp:coreProperties>
</file>