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A2704-CEF3-0E37-D0E4-CDD4307D793B}" v="121" dt="2026-07-16T17:00:51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9E8E9-C4AF-46BF-B7A0-B45940FFC9A5}" type="datetimeFigureOut">
              <a:t>7/16/26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AE1A5-ADD5-409C-89E4-F57017302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33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40" dirty="0">
                <a:solidFill>
                  <a:srgbClr val="3056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PHARMALEARN  /  TRAINING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20095" y="292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056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Today, expert time is consumed by course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experts carry the work from raw evidence to a launched training program.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1127729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0C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DOMAIN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nearly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4343400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D99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434340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EFFORT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31720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78024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78024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78024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trusted evidence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76472" y="3337560"/>
            <a:ext cx="256032" cy="274320"/>
          </a:xfrm>
          <a:prstGeom prst="chevron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04488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50792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50792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50792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the curriculum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3337560"/>
            <a:ext cx="256032" cy="274320"/>
          </a:xfrm>
          <a:prstGeom prst="chevron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77256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23560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23560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every asset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22008" y="3337560"/>
            <a:ext cx="256032" cy="274320"/>
          </a:xfrm>
          <a:prstGeom prst="chevron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50024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96328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96328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96328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each medium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94776" y="3337560"/>
            <a:ext cx="256032" cy="274320"/>
          </a:xfrm>
          <a:prstGeom prst="chevron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22792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69096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69096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69096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Fact-check and revise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67544" y="3337560"/>
            <a:ext cx="256032" cy="274320"/>
          </a:xfrm>
          <a:prstGeom prst="chevron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195560" y="2606040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101600" dist="25400" dir="5400000" algn="bl" rotWithShape="0">
              <a:srgbClr val="8892A6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341864" y="2761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41864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341864" y="34564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schedule and tests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31720" y="4572000"/>
            <a:ext cx="8915400" cy="566928"/>
          </a:xfrm>
          <a:prstGeom prst="roundRect">
            <a:avLst>
              <a:gd name="adj" fmla="val 12903"/>
            </a:avLst>
          </a:prstGeom>
          <a:solidFill>
            <a:srgbClr val="FBEC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14600" y="4572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kern="0" spc="50" dirty="0">
                <a:solidFill>
                  <a:srgbClr val="B5651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CYCLE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4572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99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Weeks to months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331720" y="5349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bottleneck is not expertise — it is asking experts to perform production work.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state: slow, expensive and difficult to refresh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820095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Expertly Generate Learning Content for the Field Medical Training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4054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A6472"/>
                </a:solidFill>
                <a:latin typeface="Inter"/>
                <a:ea typeface="Inter"/>
                <a:cs typeface="Inter" pitchFamily="34" charset="-120"/>
              </a:rPr>
              <a:t>Smarter models alone aren't enough — </a:t>
            </a:r>
            <a:r>
              <a:rPr lang="en-US" sz="1200" b="1" i="1" dirty="0">
                <a:solidFill>
                  <a:srgbClr val="0C1220"/>
                </a:solidFill>
                <a:latin typeface="Inter"/>
                <a:ea typeface="Inter"/>
                <a:cs typeface="Inter" pitchFamily="34" charset="-120"/>
              </a:rPr>
              <a:t>the process + guardrails keep content accuracy</a:t>
            </a:r>
            <a:r>
              <a:rPr lang="en-US" sz="1200" b="1" i="1" dirty="0">
                <a:solidFill>
                  <a:srgbClr val="0C1220"/>
                </a:solidFill>
                <a:latin typeface="Inter"/>
                <a:ea typeface="Inter" pitchFamily="34" charset="-122"/>
                <a:cs typeface="Inter" pitchFamily="34" charset="-120"/>
              </a:rPr>
              <a:t>, alignment, and cost in control.</a:t>
            </a:r>
            <a:endParaRPr lang="en-US" sz="1200" dirty="0">
              <a:latin typeface="Inter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8260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EAEEFB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" y="18654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19660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32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 Documents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7433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FDA approvals, clinical trial publications, and more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697480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kern="0" spc="200" dirty="0">
                <a:solidFill>
                  <a:srgbClr val="3056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PROCESSOR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97480" y="1737360"/>
            <a:ext cx="1874520" cy="1417320"/>
          </a:xfrm>
          <a:prstGeom prst="hexagon">
            <a:avLst/>
          </a:prstGeom>
          <a:solidFill>
            <a:srgbClr val="DCF0EA"/>
          </a:solidFill>
          <a:ln w="16510">
            <a:solidFill>
              <a:srgbClr val="1F8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96996" y="19933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436" y="208483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79352" y="2560320"/>
            <a:ext cx="1471581" cy="568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8A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 &amp; Verifier Agents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5176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facts, connect the dots, correlation/causality, comparative mapping and more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937760" y="1692648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EAEEFB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18988" y="18755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572" y="197611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4424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0" y="27533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Distilled learning, one record per document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178040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kern="0" spc="200" dirty="0">
                <a:solidFill>
                  <a:srgbClr val="3056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178040" y="1737360"/>
            <a:ext cx="1874520" cy="1417320"/>
          </a:xfrm>
          <a:prstGeom prst="hexagon">
            <a:avLst/>
          </a:prstGeom>
          <a:solidFill>
            <a:srgbClr val="DCF0EA"/>
          </a:solidFill>
          <a:ln w="16510">
            <a:solidFill>
              <a:srgbClr val="1F8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77556" y="19933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996" y="208483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254022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8A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Persona-based Content Designers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1323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Adapts format &amp; learner (MSL / HCP)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9418320" y="1672552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EAEEFB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10099548" y="18554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132" y="195601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0" y="24223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Learning Content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509760" y="27332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· PPT · Chat · Quiz · FAQ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331720" y="24688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572000" y="24688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6812280" y="24688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052560" y="24688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17804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kern="0" spc="200" dirty="0">
                <a:solidFill>
                  <a:srgbClr val="3056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PROCESSOR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7178040" y="4114800"/>
            <a:ext cx="1874520" cy="1417320"/>
          </a:xfrm>
          <a:prstGeom prst="hexagon">
            <a:avLst/>
          </a:prstGeom>
          <a:solidFill>
            <a:srgbClr val="DCF0EA"/>
          </a:solidFill>
          <a:ln w="16510">
            <a:solidFill>
              <a:srgbClr val="1F8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877556" y="43708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8996" y="4462272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69480" y="49377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8A6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Critique Agents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7132320" y="55961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accuracy &amp; format fit</a:t>
            </a:r>
            <a:endParaRPr lang="en-US" sz="9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006" y="3558294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536326" y="351257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Loop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110728" y="3154680"/>
            <a:ext cx="0" cy="960120"/>
          </a:xfrm>
          <a:prstGeom prst="line">
            <a:avLst/>
          </a:prstGeom>
          <a:noFill/>
          <a:ln w="16510">
            <a:solidFill>
              <a:srgbClr val="3056D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6569095" y="5869858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BECD5"/>
          </a:solidFill>
          <a:ln w="12700">
            <a:solidFill>
              <a:srgbClr val="D99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569095" y="586985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5651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⚠  Curbs unmanaged hallucination risk*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457200" y="6492240"/>
            <a:ext cx="7895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*Raw models hallucinate at high rates when unmanaged — e.g. 55% for Fable 5 (Artificial Analysis). Process + Guardrails, not just raw model IQ, keeps output trustworthy.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CADFC1-9854-70A6-8466-E64CB52073DC}"/>
              </a:ext>
            </a:extLst>
          </p:cNvPr>
          <p:cNvSpPr txBox="1"/>
          <p:nvPr/>
        </p:nvSpPr>
        <p:spPr>
          <a:xfrm>
            <a:off x="496197" y="3858768"/>
            <a:ext cx="556708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IN" b="1" dirty="0"/>
          </a:p>
          <a:p>
            <a:pPr marL="342900" indent="-342900">
              <a:buFontTx/>
              <a:buAutoNum type="arabicPeriod"/>
            </a:pPr>
            <a:r>
              <a:rPr lang="en-IN" b="1" dirty="0"/>
              <a:t>Verified: </a:t>
            </a:r>
            <a:r>
              <a:rPr lang="en-IN" dirty="0"/>
              <a:t>Zero hallucination, 100% fact-checked</a:t>
            </a:r>
          </a:p>
          <a:p>
            <a:pPr marL="342900" indent="-342900">
              <a:buAutoNum type="arabicPeriod"/>
            </a:pPr>
            <a:r>
              <a:rPr lang="en-IN" b="1" dirty="0"/>
              <a:t>Personalised:</a:t>
            </a:r>
            <a:r>
              <a:rPr lang="en-IN" dirty="0"/>
              <a:t> Content adapted as per learner persona (MSL/HCP)</a:t>
            </a:r>
          </a:p>
          <a:p>
            <a:pPr marL="342900" indent="-342900">
              <a:buFontTx/>
              <a:buAutoNum type="arabicPeriod"/>
            </a:pPr>
            <a:r>
              <a:rPr lang="en-IN" b="1" dirty="0"/>
              <a:t>~70% faster synthesis &amp; iteration: </a:t>
            </a:r>
            <a:r>
              <a:rPr lang="en-IN" dirty="0"/>
              <a:t> Structured, traceable content </a:t>
            </a:r>
            <a:r>
              <a:rPr lang="en-US" dirty="0">
                <a:cs typeface="Calibri"/>
              </a:rPr>
              <a:t>which domain experts can rapidly edit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40" dirty="0">
                <a:solidFill>
                  <a:srgbClr val="3056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PHARMALEARN  /  TRAINING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20095" y="292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056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shift creates speed, quality and continuous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expertise goes further when it is focused on review rather than production.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1127729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kern="0" spc="40" dirty="0">
                <a:solidFill>
                  <a:srgbClr val="5A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96596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D99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 /  EXPERT-LED PRODUCTION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1FBF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 /  AGENT-AUGMENTED LIFECYCLE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 role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2542032"/>
            <a:ext cx="37947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25420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Creates, formats and checks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542032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5420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Reviews, improves and signs off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1638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to launch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3163824"/>
            <a:ext cx="3794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3163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to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163824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matter of days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8561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7856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Learning model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3785616"/>
            <a:ext cx="37947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37856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course and schedule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785616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37856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Self-driven, monitored and certified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407408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4074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freshness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4407408"/>
            <a:ext cx="3794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68880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Costly manual refreshes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407408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C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Higher-cadence updates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0817352" cy="777240"/>
          </a:xfrm>
          <a:prstGeom prst="roundRect">
            <a:avLst>
              <a:gd name="adj" fmla="val 11765"/>
            </a:avLst>
          </a:prstGeom>
          <a:solidFill>
            <a:srgbClr val="0C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5212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BF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≈80%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103120" y="5212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less expert production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5321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BF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SPONSORS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C7C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course development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60920" y="5321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BF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C7C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time for quality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880" y="5321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BF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MSLs / HCPs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2688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C7C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content + feedback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experts amplify their impact across the full learning lifecycle    ·    one platform also enables community surveys &amp; hypothesis testing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820095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418</Words>
  <Application>Microsoft Macintosh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Inter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PharmaLearn Pitch (light)</dc:title>
  <dc:subject>PptxGenJS Presentation</dc:subject>
  <dc:creator>Second Slope</dc:creator>
  <cp:lastModifiedBy>Aditya Prasad</cp:lastModifiedBy>
  <cp:revision>21</cp:revision>
  <dcterms:created xsi:type="dcterms:W3CDTF">2026-07-16T16:37:58Z</dcterms:created>
  <dcterms:modified xsi:type="dcterms:W3CDTF">2026-07-16T17:43:35Z</dcterms:modified>
</cp:coreProperties>
</file>