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04ab76b6d945e9" /><Relationship Type="http://schemas.openxmlformats.org/officeDocument/2006/relationships/extended-properties" Target="/docProps/app.xml" Id="Re05d3137c5eb4ba9" /><Relationship Type="http://schemas.openxmlformats.org/officeDocument/2006/relationships/officeDocument" Target="/ppt/presentation.xml" Id="R8dacadb6384d48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9b165efbac4306"/>
  </p:sldMasterIdLst>
  <p:notesMasterIdLst>
    <p:notesMasterId xmlns:r="http://schemas.openxmlformats.org/officeDocument/2006/relationships" r:id="R9c0937c02a644cce"/>
  </p:notesMasterIdLst>
  <p:sldIdLst>
    <p:sldId xmlns:r="http://schemas.openxmlformats.org/officeDocument/2006/relationships" id="256" r:id="Rcd4f52d19ab84cb6"/>
    <p:sldId xmlns:r="http://schemas.openxmlformats.org/officeDocument/2006/relationships" id="257" r:id="R4a29bd83e78846d8"/>
    <p:sldId xmlns:r="http://schemas.openxmlformats.org/officeDocument/2006/relationships" id="258" r:id="Rce39591d6b4746ec"/>
    <p:sldId xmlns:r="http://schemas.openxmlformats.org/officeDocument/2006/relationships" id="259" r:id="R1d1fffe237fb41d9"/>
    <p:sldId xmlns:r="http://schemas.openxmlformats.org/officeDocument/2006/relationships" id="260" r:id="R6dac10ef936542d6"/>
    <p:sldId xmlns:r="http://schemas.openxmlformats.org/officeDocument/2006/relationships" id="261" r:id="R1c6ee05851704662"/>
    <p:sldId xmlns:r="http://schemas.openxmlformats.org/officeDocument/2006/relationships" id="262" r:id="R6fa45c9041ad42a5"/>
    <p:sldId xmlns:r="http://schemas.openxmlformats.org/officeDocument/2006/relationships" id="263" r:id="R8157ff420de34d3e"/>
    <p:sldId xmlns:r="http://schemas.openxmlformats.org/officeDocument/2006/relationships" id="264" r:id="Rc43b1c43ea3f49d8"/>
    <p:sldId xmlns:r="http://schemas.openxmlformats.org/officeDocument/2006/relationships" id="265" r:id="Re0140345d83543aa"/>
    <p:sldId xmlns:r="http://schemas.openxmlformats.org/officeDocument/2006/relationships" id="266" r:id="R42067419c9b44ce9"/>
    <p:sldId xmlns:r="http://schemas.openxmlformats.org/officeDocument/2006/relationships" id="267" r:id="Rf51764af92f2414a"/>
    <p:sldId xmlns:r="http://schemas.openxmlformats.org/officeDocument/2006/relationships" id="268" r:id="R45d1053c81fd4e10"/>
    <p:sldId xmlns:r="http://schemas.openxmlformats.org/officeDocument/2006/relationships" id="269" r:id="R0a5ff2803bf5475e"/>
    <p:sldId xmlns:r="http://schemas.openxmlformats.org/officeDocument/2006/relationships" id="270" r:id="R8d45257ed15a441f"/>
    <p:sldId xmlns:r="http://schemas.openxmlformats.org/officeDocument/2006/relationships" id="271" r:id="R4b3cbe0f7ced4757"/>
    <p:sldId xmlns:r="http://schemas.openxmlformats.org/officeDocument/2006/relationships" id="272" r:id="R7a3a941d3ec243a9"/>
    <p:sldId xmlns:r="http://schemas.openxmlformats.org/officeDocument/2006/relationships" id="273" r:id="R55897c147a2047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8dee927831407a" /><Relationship Type="http://schemas.openxmlformats.org/officeDocument/2006/relationships/slideMaster" Target="/ppt/slideMasters/slideMaster1.xml" Id="Rb89b165efbac4306" /><Relationship Type="http://schemas.openxmlformats.org/officeDocument/2006/relationships/notesMaster" Target="/ppt/notesMasters/notesMaster1.xml" Id="R9c0937c02a644cce" /><Relationship Type="http://schemas.openxmlformats.org/officeDocument/2006/relationships/presProps" Target="/ppt/presProps.xml" Id="Rcea5767dd3f0469f" /><Relationship Type="http://schemas.openxmlformats.org/officeDocument/2006/relationships/viewProps" Target="/ppt/viewProps.xml" Id="R825faf550d2149b7" /><Relationship Type="http://schemas.openxmlformats.org/officeDocument/2006/relationships/tableStyles" Target="/ppt/tableStyles.xml" Id="R6d28b4549cf94ee4" /><Relationship Type="http://schemas.openxmlformats.org/officeDocument/2006/relationships/slide" Target="/ppt/slides/slide1.xml" Id="Rcd4f52d19ab84cb6" /><Relationship Type="http://schemas.openxmlformats.org/officeDocument/2006/relationships/slide" Target="/ppt/slides/slide2.xml" Id="R4a29bd83e78846d8" /><Relationship Type="http://schemas.openxmlformats.org/officeDocument/2006/relationships/slide" Target="/ppt/slides/slide3.xml" Id="Rce39591d6b4746ec" /><Relationship Type="http://schemas.openxmlformats.org/officeDocument/2006/relationships/slide" Target="/ppt/slides/slide4.xml" Id="R1d1fffe237fb41d9" /><Relationship Type="http://schemas.openxmlformats.org/officeDocument/2006/relationships/slide" Target="/ppt/slides/slide5.xml" Id="R6dac10ef936542d6" /><Relationship Type="http://schemas.openxmlformats.org/officeDocument/2006/relationships/slide" Target="/ppt/slides/slide6.xml" Id="R1c6ee05851704662" /><Relationship Type="http://schemas.openxmlformats.org/officeDocument/2006/relationships/slide" Target="/ppt/slides/slide7.xml" Id="R6fa45c9041ad42a5" /><Relationship Type="http://schemas.openxmlformats.org/officeDocument/2006/relationships/slide" Target="/ppt/slides/slide8.xml" Id="R8157ff420de34d3e" /><Relationship Type="http://schemas.openxmlformats.org/officeDocument/2006/relationships/slide" Target="/ppt/slides/slide9.xml" Id="Rc43b1c43ea3f49d8" /><Relationship Type="http://schemas.openxmlformats.org/officeDocument/2006/relationships/slide" Target="/ppt/slides/slide10.xml" Id="Re0140345d83543aa" /><Relationship Type="http://schemas.openxmlformats.org/officeDocument/2006/relationships/slide" Target="/ppt/slides/slide11.xml" Id="R42067419c9b44ce9" /><Relationship Type="http://schemas.openxmlformats.org/officeDocument/2006/relationships/slide" Target="/ppt/slides/slide12.xml" Id="Rf51764af92f2414a" /><Relationship Type="http://schemas.openxmlformats.org/officeDocument/2006/relationships/slide" Target="/ppt/slides/slide13.xml" Id="R45d1053c81fd4e10" /><Relationship Type="http://schemas.openxmlformats.org/officeDocument/2006/relationships/slide" Target="/ppt/slides/slide14.xml" Id="R0a5ff2803bf5475e" /><Relationship Type="http://schemas.openxmlformats.org/officeDocument/2006/relationships/slide" Target="/ppt/slides/slide15.xml" Id="R8d45257ed15a441f" /><Relationship Type="http://schemas.openxmlformats.org/officeDocument/2006/relationships/slide" Target="/ppt/slides/slide16.xml" Id="R4b3cbe0f7ced4757" /><Relationship Type="http://schemas.openxmlformats.org/officeDocument/2006/relationships/slide" Target="/ppt/slides/slide17.xml" Id="R7a3a941d3ec243a9" /><Relationship Type="http://schemas.openxmlformats.org/officeDocument/2006/relationships/slide" Target="/ppt/slides/slide18.xml" Id="R55897c147a2047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dad59494284a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9157d5002f43cb" /><Relationship Type="http://schemas.openxmlformats.org/officeDocument/2006/relationships/notesMaster" Target="/ppt/notesMasters/notesMaster1.xml" Id="R6c69fe68c62143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1e45ad52334c14" /><Relationship Type="http://schemas.openxmlformats.org/officeDocument/2006/relationships/notesMaster" Target="/ppt/notesMasters/notesMaster1.xml" Id="R47098527a6a949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f9e4db85fc4734" /><Relationship Type="http://schemas.openxmlformats.org/officeDocument/2006/relationships/notesMaster" Target="/ppt/notesMasters/notesMaster1.xml" Id="Rcbf5e8b5936b47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ce399d58584c6e" /><Relationship Type="http://schemas.openxmlformats.org/officeDocument/2006/relationships/notesMaster" Target="/ppt/notesMasters/notesMaster1.xml" Id="R7d02999bdfec43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847fb88a7d44bb" /><Relationship Type="http://schemas.openxmlformats.org/officeDocument/2006/relationships/notesMaster" Target="/ppt/notesMasters/notesMaster1.xml" Id="R6919f7cfcefd4c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a1e63b94824ff7" /><Relationship Type="http://schemas.openxmlformats.org/officeDocument/2006/relationships/notesMaster" Target="/ppt/notesMasters/notesMaster1.xml" Id="R093b0062e03a43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05abd7eead4429" /><Relationship Type="http://schemas.openxmlformats.org/officeDocument/2006/relationships/notesMaster" Target="/ppt/notesMasters/notesMaster1.xml" Id="Rd236026646f540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2196ecee524811" /><Relationship Type="http://schemas.openxmlformats.org/officeDocument/2006/relationships/notesMaster" Target="/ppt/notesMasters/notesMaster1.xml" Id="Rbdd57fdbcc314a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004c7b341d47b2" /><Relationship Type="http://schemas.openxmlformats.org/officeDocument/2006/relationships/notesMaster" Target="/ppt/notesMasters/notesMaster1.xml" Id="Rf7aae21c802c4d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45d0b4bb914ca2" /><Relationship Type="http://schemas.openxmlformats.org/officeDocument/2006/relationships/notesMaster" Target="/ppt/notesMasters/notesMaster1.xml" Id="R10b145c76e9c48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a06ace50be441d" /><Relationship Type="http://schemas.openxmlformats.org/officeDocument/2006/relationships/notesMaster" Target="/ppt/notesMasters/notesMaster1.xml" Id="Rcd2e49a07bed48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aeb0a1db5e4f03" /><Relationship Type="http://schemas.openxmlformats.org/officeDocument/2006/relationships/notesMaster" Target="/ppt/notesMasters/notesMaster1.xml" Id="Rfa471563f0a74f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3c9f8c43034e2f" /><Relationship Type="http://schemas.openxmlformats.org/officeDocument/2006/relationships/notesMaster" Target="/ppt/notesMasters/notesMaster1.xml" Id="Rb7c17411b92141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79318ca8344660" /><Relationship Type="http://schemas.openxmlformats.org/officeDocument/2006/relationships/notesMaster" Target="/ppt/notesMasters/notesMaster1.xml" Id="Rbdb6318d97ca49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3110ae445f468c" /><Relationship Type="http://schemas.openxmlformats.org/officeDocument/2006/relationships/notesMaster" Target="/ppt/notesMasters/notesMaster1.xml" Id="R4a08fabae0704e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e7117ad1e74d82" /><Relationship Type="http://schemas.openxmlformats.org/officeDocument/2006/relationships/notesMaster" Target="/ppt/notesMasters/notesMaster1.xml" Id="Re9377aa1442c4c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c6a506ad004c05" /><Relationship Type="http://schemas.openxmlformats.org/officeDocument/2006/relationships/notesMaster" Target="/ppt/notesMasters/notesMaster1.xml" Id="Rebb501e220ad45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639b35ad1ed4a3e" /><Relationship Type="http://schemas.openxmlformats.org/officeDocument/2006/relationships/notesMaster" Target="/ppt/notesMasters/notesMaster1.xml" Id="Rf9e2ab4831d84d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Systemic therapy for hormone receptor‐positive/HER2‐negative early stage and metastatic breast cancer - Huppert et al., CA: A Cancer Journal for Clinicians</a:t>
            </a:r>
          </a:p>
          <a:p xmlns:a="http://schemas.openxmlformats.org/drawingml/2006/main">
            <a:r>
              <a:t>Huppert 2023, CA Cancer J Clin</a:t>
            </a:r>
          </a:p>
          <a:p xmlns:a="http://schemas.openxmlformats.org/drawingml/2006/main">
            <a:r>
              <a:t>https://acsjournals.onlinelibrary.wiley.com/doi/full/10.3322/caac.21777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A Nurse's Overview of First-Line Treatment for HR+ Metastatic Breast Cancer</a:t>
            </a:r>
          </a:p>
          <a:p xmlns:a="http://schemas.openxmlformats.org/drawingml/2006/main">
            <a:r>
              <a:t>OncNursingNews, Sept 2025</a:t>
            </a:r>
          </a:p>
          <a:p xmlns:a="http://schemas.openxmlformats.org/drawingml/2006/main">
            <a:r>
              <a:t>https://www.oncnursingnews.com/view/a-nurse-s-overview-of-first-line-treatment-for-hr-metastatic-breast-cancer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PALbociclib CoLlaborative Adjuvant Study (PALLAS) Protocol</a:t>
            </a:r>
          </a:p>
          <a:p xmlns:a="http://schemas.openxmlformats.org/drawingml/2006/main">
            <a:r>
              <a:t>Section 1.2, Palbociclib Mechanism of Action</a:t>
            </a:r>
          </a:p>
          <a:p xmlns:a="http://schemas.openxmlformats.org/drawingml/2006/main">
            <a:r>
              <a:t>https://cdn.clinicaltrials.gov/large-docs/94/NCT02513394/Prot_SAP_000.pdf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Label: IBRANCE- palbociclib tablet, film coated - DailyMed</a:t>
            </a:r>
          </a:p>
          <a:p xmlns:a="http://schemas.openxmlformats.org/drawingml/2006/main">
            <a:r>
              <a:t>Section 12.1</a:t>
            </a:r>
          </a:p>
          <a:p xmlns:a="http://schemas.openxmlformats.org/drawingml/2006/main">
            <a:r>
              <a:t>https://dailymed.nlm.nih.gov/dailymed/drugInfo.cfm?setid=fecbdd7d-b729-41b5-9872-231b8fe104ce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PALbociclib CoLlaborative Adjuvant Study (PALLAS) Protocol</a:t>
            </a:r>
          </a:p>
          <a:p xmlns:a="http://schemas.openxmlformats.org/drawingml/2006/main">
            <a:r>
              <a:t>Section 1.2, Palbociclib Mechanism of Action</a:t>
            </a:r>
          </a:p>
          <a:p xmlns:a="http://schemas.openxmlformats.org/drawingml/2006/main">
            <a:r>
              <a:t>https://cdn.clinicaltrials.gov/large-docs/94/NCT02513394/Prot_SAP_000.pdf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Label: IBRANCE- palbociclib tablet, film coated - DailyMed</a:t>
            </a:r>
          </a:p>
          <a:p xmlns:a="http://schemas.openxmlformats.org/drawingml/2006/main">
            <a:r>
              <a:t>Section 12.1</a:t>
            </a:r>
          </a:p>
          <a:p xmlns:a="http://schemas.openxmlformats.org/drawingml/2006/main">
            <a:r>
              <a:t>https://dailymed.nlm.nih.gov/dailymed/drugInfo.cfm?setid=fecbdd7d-b729-41b5-9872-231b8fe104ce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Palbociclib Mechanism of Action | Elicit</a:t>
            </a:r>
          </a:p>
          <a:p xmlns:a="http://schemas.openxmlformats.org/drawingml/2006/main">
            <a:r>
              <a:t>Rb restriction-point blockade section</a:t>
            </a:r>
          </a:p>
          <a:p xmlns:a="http://schemas.openxmlformats.org/drawingml/2006/main">
            <a:r>
              <a:t>https://elicit.com/mechanism-of-action/palbociclib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IBRANCE tablets (palbociclib) Clinical Pharmacology - Pfizer Medical</a:t>
            </a:r>
          </a:p>
          <a:p xmlns:a="http://schemas.openxmlformats.org/drawingml/2006/main">
            <a:r>
              <a:t>Section 12.3</a:t>
            </a:r>
          </a:p>
          <a:p xmlns:a="http://schemas.openxmlformats.org/drawingml/2006/main">
            <a:r>
              <a:t>https://www.pfizermedical.com/ibrance-tablets/clinical-pharmacology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Label: IBRANCE- palbociclib capsule - DailyMed - NIH</a:t>
            </a:r>
          </a:p>
          <a:p xmlns:a="http://schemas.openxmlformats.org/drawingml/2006/main">
            <a:r>
              <a:t>Section 12.3, Hepatic Impairment</a:t>
            </a:r>
          </a:p>
          <a:p xmlns:a="http://schemas.openxmlformats.org/drawingml/2006/main">
            <a:r>
              <a:t>https://dailymed.nlm.nih.gov/dailymed/drugInfo.cfm?setid=e0e6412f-50b4-4fd4-9364-62818d121a07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Ibrance (palbociclib) FDA Approval History - Drugs.com</a:t>
            </a:r>
          </a:p>
          <a:p xmlns:a="http://schemas.openxmlformats.org/drawingml/2006/main">
            <a:r>
              <a:t>Approval history section</a:t>
            </a:r>
          </a:p>
          <a:p xmlns:a="http://schemas.openxmlformats.org/drawingml/2006/main">
            <a:r>
              <a:t>https://www.drugs.com/history/ibrance.html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FDA approves inavolisib with palbociclib and fulvestrant for endocrine-resistant, PIK3CA-mutated, HR-positive, HER2-negative, advanced breast cancer | FDA</a:t>
            </a:r>
          </a:p>
          <a:p xmlns:a="http://schemas.openxmlformats.org/drawingml/2006/main">
            <a:r>
              <a:t>Approval and trial description</a:t>
            </a:r>
          </a:p>
          <a:p xmlns:a="http://schemas.openxmlformats.org/drawingml/2006/main">
            <a:r>
              <a:t>https://www.fda.gov/drugs/resources-information-approved-drugs/fda-approves-inavolisib-palbociclib-and-fulvestrant-endocrine-resistant-pik3ca-mutated-hr-positive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FDA approves palbociclib with trastuzumab, with or without pertuzumab, and endocrine therapy for the maintenance treatment of HR-positive, HER2-positive metastatic breast cancer | FDA</a:t>
            </a:r>
          </a:p>
          <a:p xmlns:a="http://schemas.openxmlformats.org/drawingml/2006/main">
            <a:r>
              <a:t>Approval summary paragraph</a:t>
            </a:r>
          </a:p>
          <a:p xmlns:a="http://schemas.openxmlformats.org/drawingml/2006/main">
            <a:r>
              <a:t>https://www.fda.gov/drugs/resources-information-approved-drugs/fda-approves-palbociclib-trastuzumab-or-without-pertuzumab-and-endocrine-therapy-maintenance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FDA Approval: Palbociclib for the Treatment of Postmenopausal Patients with ER-Positive, HER2-Negative Metastatic Breast Cancer</a:t>
            </a:r>
          </a:p>
          <a:p xmlns:a="http://schemas.openxmlformats.org/drawingml/2006/main">
            <a:r>
              <a:t>Results section</a:t>
            </a:r>
          </a:p>
          <a:p xmlns:a="http://schemas.openxmlformats.org/drawingml/2006/main">
            <a:r>
              <a:t>https://aacrjournals.org/clincancerres/article/21/21/4760/175337/FDA-Approval-Palbociclib-for-the-Treatment-of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Overall survival results from the randomized phase 2 study of palbociclib in combination with letrozole versus letrozole alone for first-line treatment of ER+/HER2− advanced breast cancer (PALOMA-1, TRIO-18)</a:t>
            </a:r>
          </a:p>
          <a:p xmlns:a="http://schemas.openxmlformats.org/drawingml/2006/main">
            <a:r>
              <a:t>Abstract</a:t>
            </a:r>
          </a:p>
          <a:p xmlns:a="http://schemas.openxmlformats.org/drawingml/2006/main">
            <a:r>
              <a:t>https://www.ncbi.nlm.nih.gov/pmc/articles/PMC7383036/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Palbociclib and Letrozole in Advanced Breast Cancer | NEJM</a:t>
            </a:r>
          </a:p>
          <a:p xmlns:a="http://schemas.openxmlformats.org/drawingml/2006/main">
            <a:r>
              <a:t>Results</a:t>
            </a:r>
          </a:p>
          <a:p xmlns:a="http://schemas.openxmlformats.org/drawingml/2006/main">
            <a:r>
              <a:t>https://www.nejm.org/doi/full/10.1056/NEJMoa1607303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Pfizer Announces Overall Survival Results from Phase 3 PALOMA-2 Trial of IBRANCE</a:t>
            </a:r>
          </a:p>
          <a:p xmlns:a="http://schemas.openxmlformats.org/drawingml/2006/main">
            <a:r>
              <a:t>Press release body</a:t>
            </a:r>
          </a:p>
          <a:p xmlns:a="http://schemas.openxmlformats.org/drawingml/2006/main">
            <a:r>
              <a:t>https://www.pfizer.com/news/press-release/press-release-detail/pfizer-announces-overall-survival-results-phase-3-paloma-2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Pfizer Announces Overall Survival Results from Phase 3 PALOMA-2 Trial of IBRANCE</a:t>
            </a:r>
          </a:p>
          <a:p xmlns:a="http://schemas.openxmlformats.org/drawingml/2006/main">
            <a:r>
              <a:t>Results paragraph</a:t>
            </a:r>
          </a:p>
          <a:p xmlns:a="http://schemas.openxmlformats.org/drawingml/2006/main">
            <a:r>
              <a:t>https://www.pfizer.com/news/press-release/press-release-detail/pfizer-announces-overall-survival-results-phase-3-paloma-2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PALOMA-2: No Overall Survival Benefit Reported With Palbociclib/Letrozole in Advanced Breast Cancer</a:t>
            </a:r>
          </a:p>
          <a:p xmlns:a="http://schemas.openxmlformats.org/drawingml/2006/main">
            <a:r>
              <a:t>Results summary</a:t>
            </a:r>
          </a:p>
          <a:p xmlns:a="http://schemas.openxmlformats.org/drawingml/2006/main">
            <a:r>
              <a:t>https://ascopost.com/issues/august-10-2022/no-overall-survival-benefit-reported-with-palbociclibletrozole-in-advanced-breast-cancer/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FDA Approval of Palbociclib in Combination with Fulvestrant for HR+, HER2- Metastatic Breast Cancer</a:t>
            </a:r>
          </a:p>
          <a:p xmlns:a="http://schemas.openxmlformats.org/drawingml/2006/main">
            <a:r>
              <a:t>Results</a:t>
            </a:r>
          </a:p>
          <a:p xmlns:a="http://schemas.openxmlformats.org/drawingml/2006/main">
            <a:r>
              <a:t>https://aacrjournals.org/clincancerres/article/22/20/4968/124844/FDA-Approval-of-Palbociclib-in-Combination-with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Overall Survival with Palbociclib and Fulvestrant in Women with HR+/HER2− ABC: Updated Exploratory Analyses of PALOMA-3</a:t>
            </a:r>
          </a:p>
          <a:p xmlns:a="http://schemas.openxmlformats.org/drawingml/2006/main">
            <a:r>
              <a:t>Abstract/Results</a:t>
            </a:r>
          </a:p>
          <a:p xmlns:a="http://schemas.openxmlformats.org/drawingml/2006/main">
            <a:r>
              <a:t>https://pmc.ncbi.nlm.nih.gov/articles/PMC9662922/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FDA approves inavolisib with palbociclib and fulvestrant for endocrine-resistant, PIK3CA-mutated, HR-positive, HER2-negative, advanced breast cancer | FDA</a:t>
            </a:r>
          </a:p>
          <a:p xmlns:a="http://schemas.openxmlformats.org/drawingml/2006/main">
            <a:r>
              <a:t>Dosing regimen paragraph</a:t>
            </a:r>
          </a:p>
          <a:p xmlns:a="http://schemas.openxmlformats.org/drawingml/2006/main">
            <a:r>
              <a:t>https://www.fda.gov/drugs/resources-information-approved-drugs/fda-approves-inavolisib-palbociclib-and-fulvestrant-endocrine-resistant-pik3ca-mutated-hr-positive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FDA approves palbociclib with trastuzumab, with or without pertuzumab, and endocrine therapy for the maintenance treatment of HR-positive, HER2-positive metastatic breast cancer | FDA</a:t>
            </a:r>
          </a:p>
          <a:p xmlns:a="http://schemas.openxmlformats.org/drawingml/2006/main">
            <a:r>
              <a:t>Efficacy/PATINA description</a:t>
            </a:r>
          </a:p>
          <a:p xmlns:a="http://schemas.openxmlformats.org/drawingml/2006/main">
            <a:r>
              <a:t>https://www.fda.gov/drugs/resources-information-approved-drugs/fda-approves-palbociclib-trastuzumab-or-without-pertuzumab-and-endocrine-therapy-maintenance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Label: IBRANCE- palbociclib capsule - DailyMed - NIH</a:t>
            </a:r>
          </a:p>
          <a:p xmlns:a="http://schemas.openxmlformats.org/drawingml/2006/main">
            <a:r>
              <a:t>Warnings and Precautions - Neutropenia</a:t>
            </a:r>
          </a:p>
          <a:p xmlns:a="http://schemas.openxmlformats.org/drawingml/2006/main">
            <a:r>
              <a:t>https://dailymed.nlm.nih.gov/dailymed/drugInfo.cfm?setid=e0e6412f-50b4-4fd4-9364-62818d121a07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Palbociclib with Letrozole in Postmenopausal Women with ER+/HER2− Advanced Breast Cancer: Hematologic Safety Analysis of the Randomized PALOMA-2 Trial</a:t>
            </a:r>
          </a:p>
          <a:p xmlns:a="http://schemas.openxmlformats.org/drawingml/2006/main">
            <a:r>
              <a:t>Abstract / Results</a:t>
            </a:r>
          </a:p>
          <a:p xmlns:a="http://schemas.openxmlformats.org/drawingml/2006/main">
            <a:r>
              <a:t>https://pmc.ncbi.nlm.nih.gov/articles/PMC6975938/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Pfizer Announces Overall Survival Results from Phase 3 PALOMA-3 Trial of IBRANCE</a:t>
            </a:r>
          </a:p>
          <a:p xmlns:a="http://schemas.openxmlformats.org/drawingml/2006/main">
            <a:r>
              <a:t>Safety information section</a:t>
            </a:r>
          </a:p>
          <a:p xmlns:a="http://schemas.openxmlformats.org/drawingml/2006/main">
            <a:r>
              <a:t>https://www.pfizer.com/news/press-release/press-release-detail/pfizer_announces_overall_survival_results_from_phase_3_paloma_3_trial_of_ibrance_palbociclib_in_hr_her2_metastatic_breast_cancer-0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Label: IBRANCE- palbociclib capsule - DailyMed - NIH</a:t>
            </a:r>
          </a:p>
          <a:p xmlns:a="http://schemas.openxmlformats.org/drawingml/2006/main">
            <a:r>
              <a:t>Warnings and Precautions - ILD/Pneumonitis</a:t>
            </a:r>
          </a:p>
          <a:p xmlns:a="http://schemas.openxmlformats.org/drawingml/2006/main">
            <a:r>
              <a:t>https://dailymed.nlm.nih.gov/dailymed/drugInfo.cfm?setid=e0e6412f-50b4-4fd4-9364-62818d121a07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full prescribing information for IBRANCE</a:t>
            </a:r>
          </a:p>
          <a:p xmlns:a="http://schemas.openxmlformats.org/drawingml/2006/main">
            <a:r>
              <a:t>Use in Specific Populations (8.1, 8.2, 8.3)</a:t>
            </a:r>
          </a:p>
          <a:p xmlns:a="http://schemas.openxmlformats.org/drawingml/2006/main">
            <a:r>
              <a:t>https://labeling.pfizer.com/showlabeling.aspx?id=2191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full prescribing information for IBRANCE - Pfizer labeling</a:t>
            </a:r>
          </a:p>
          <a:p xmlns:a="http://schemas.openxmlformats.org/drawingml/2006/main">
            <a:r>
              <a:t>Section 12.3, CYP3A Inhibitors</a:t>
            </a:r>
          </a:p>
          <a:p xmlns:a="http://schemas.openxmlformats.org/drawingml/2006/main">
            <a:r>
              <a:t>https://labeling.pfizer.com/showlabeling.aspx?id=2191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Comparative overall survival of CDK4/6 inhibitors in combination with endocrine therapy in advanced breast cancer</a:t>
            </a:r>
          </a:p>
          <a:p xmlns:a="http://schemas.openxmlformats.org/drawingml/2006/main">
            <a:r>
              <a:t>Abstract/results</a:t>
            </a:r>
          </a:p>
          <a:p xmlns:a="http://schemas.openxmlformats.org/drawingml/2006/main">
            <a:r>
              <a:t>https://www.ncbi.nlm.nih.gov/pmc/articles/PMC10850180/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Real-world effectiveness comparison of first-line palbociclib, ribociclib or abemaciclib plus endocrine therapy in advanced HR-positive/HER2-negative BC patients: results from the multicenter PALMARES-2 study</a:t>
            </a:r>
          </a:p>
          <a:p xmlns:a="http://schemas.openxmlformats.org/drawingml/2006/main">
            <a:r>
              <a:t>Results</a:t>
            </a:r>
          </a:p>
          <a:p xmlns:a="http://schemas.openxmlformats.org/drawingml/2006/main">
            <a:r>
              <a:t>https://www.annalsofoncology.org/article/S0923-7534(25)00134-6/fulltext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Comparative overall survival of CDK4/6 inhibitors plus an aromatase inhibitor in HR+/HER2− metastatic breast cancer in the US real-world setting</a:t>
            </a:r>
          </a:p>
          <a:p xmlns:a="http://schemas.openxmlformats.org/drawingml/2006/main">
            <a:r>
              <a:t>PMC11758200 abstract</a:t>
            </a:r>
          </a:p>
          <a:p xmlns:a="http://schemas.openxmlformats.org/drawingml/2006/main">
            <a:r>
              <a:t>https://www.ncbi.nlm.nih.gov/pmc/articles/PMC11758200/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Efficacy of Limited Dose Modifications for Palbociclib-Related Grade 3 Neutropenia in HR-Positive Metastatic Breast Cancer</a:t>
            </a:r>
          </a:p>
          <a:p xmlns:a="http://schemas.openxmlformats.org/drawingml/2006/main">
            <a:r>
              <a:t>PMC article</a:t>
            </a:r>
          </a:p>
          <a:p xmlns:a="http://schemas.openxmlformats.org/drawingml/2006/main">
            <a:r>
              <a:t>https://pmc.ncbi.nlm.nih.gov/articles/PMC10582537/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Treatment Exposure and Discontinuation in the PALLAS Study of Palbociclib With Adjuvant Endocrine Therapy</a:t>
            </a:r>
          </a:p>
          <a:p xmlns:a="http://schemas.openxmlformats.org/drawingml/2006/main">
            <a:r>
              <a:t>PMC article</a:t>
            </a:r>
          </a:p>
          <a:p xmlns:a="http://schemas.openxmlformats.org/drawingml/2006/main">
            <a:r>
              <a:t>https://pmc.ncbi.nlm.nih.gov/articles/PMC9851679/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Longitudinal multi-omics study of palbociclib resistance in HR-positive/HER2-negative metastatic breast cancer</a:t>
            </a:r>
          </a:p>
          <a:p xmlns:a="http://schemas.openxmlformats.org/drawingml/2006/main">
            <a:r>
              <a:t>PMC article, Background</a:t>
            </a:r>
          </a:p>
          <a:p xmlns:a="http://schemas.openxmlformats.org/drawingml/2006/main">
            <a:r>
              <a:t>https://www.ncbi.nlm.nih.gov/pmc/articles/PMC10360358/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Label: IBRANCE- palbociclib tablet, film coated - DailyMed - NIH</a:t>
            </a:r>
          </a:p>
          <a:p xmlns:a="http://schemas.openxmlformats.org/drawingml/2006/main">
            <a:r>
              <a:t>Highlights of Prescribing Information, Indications and Usage (1)</a:t>
            </a:r>
          </a:p>
          <a:p xmlns:a="http://schemas.openxmlformats.org/drawingml/2006/main">
            <a:r>
              <a:t>https://dailymed.nlm.nih.gov/dailymed/drugInfo.cfm?setid=fecbdd7d-b729-41b5-9872-231b8fe104ce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Palbociclib and Letrozole in Advanced Breast Cancer | NEJM</a:t>
            </a:r>
          </a:p>
          <a:p xmlns:a="http://schemas.openxmlformats.org/drawingml/2006/main">
            <a:r>
              <a:t>Results</a:t>
            </a:r>
          </a:p>
          <a:p xmlns:a="http://schemas.openxmlformats.org/drawingml/2006/main">
            <a:r>
              <a:t>https://www.nejm.org/doi/full/10.1056/NEJMoa1607303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Overall Survival with Palbociclib and Fulvestrant in Women with HR+/HER2− ABC: Updated Exploratory Analyses of PALOMA-3</a:t>
            </a:r>
          </a:p>
          <a:p xmlns:a="http://schemas.openxmlformats.org/drawingml/2006/main">
            <a:r>
              <a:t>Abstract/Results</a:t>
            </a:r>
          </a:p>
          <a:p xmlns:a="http://schemas.openxmlformats.org/drawingml/2006/main">
            <a:r>
              <a:t>https://pmc.ncbi.nlm.nih.gov/articles/PMC9662922/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Label: IBRANCE- palbociclib capsule - DailyMed - NIH</a:t>
            </a:r>
          </a:p>
          <a:p xmlns:a="http://schemas.openxmlformats.org/drawingml/2006/main">
            <a:r>
              <a:t>Warnings and Precautions - Neutropenia</a:t>
            </a:r>
          </a:p>
          <a:p xmlns:a="http://schemas.openxmlformats.org/drawingml/2006/main">
            <a:r>
              <a:t>https://dailymed.nlm.nih.gov/dailymed/drugInfo.cfm?setid=e0e6412f-50b4-4fd4-9364-62818d121a07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e7e8b94224ed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e5f20c7d3747c7" /><Relationship Type="http://schemas.openxmlformats.org/officeDocument/2006/relationships/slideLayout" Target="/ppt/slideLayouts/slideLayout1.xml" Id="Rb79d5a83e460416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9d5a83e4604160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b2292585b44e2" /><Relationship Type="http://schemas.openxmlformats.org/officeDocument/2006/relationships/notesSlide" Target="/ppt/notesSlides/notesSlide1.xml" Id="R3a5d218284a54d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4d123ef944cad" /><Relationship Type="http://schemas.openxmlformats.org/officeDocument/2006/relationships/notesSlide" Target="/ppt/notesSlides/notesSlide2.xml" Id="R25dff9af82e44b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345be76f84dfc" /><Relationship Type="http://schemas.openxmlformats.org/officeDocument/2006/relationships/notesSlide" Target="/ppt/notesSlides/notesSlide3.xml" Id="Rdcda7229f00045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b7bca73d84f79" /><Relationship Type="http://schemas.openxmlformats.org/officeDocument/2006/relationships/notesSlide" Target="/ppt/notesSlides/notesSlide4.xml" Id="Rf4a45211d5e447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79f525a3e4ac5" /><Relationship Type="http://schemas.openxmlformats.org/officeDocument/2006/relationships/notesSlide" Target="/ppt/notesSlides/notesSlide5.xml" Id="R4d28c343f1a34a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f9da73d6f44c1" /><Relationship Type="http://schemas.openxmlformats.org/officeDocument/2006/relationships/notesSlide" Target="/ppt/notesSlides/notesSlide6.xml" Id="R4c6732bfb08845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d55cedb1c4ac8" /><Relationship Type="http://schemas.openxmlformats.org/officeDocument/2006/relationships/notesSlide" Target="/ppt/notesSlides/notesSlide7.xml" Id="R5489d4c13a9f40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285dbfc004715" /><Relationship Type="http://schemas.openxmlformats.org/officeDocument/2006/relationships/notesSlide" Target="/ppt/notesSlides/notesSlide8.xml" Id="Rbccb2aeeb72b43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b37fe303442be" /><Relationship Type="http://schemas.openxmlformats.org/officeDocument/2006/relationships/notesSlide" Target="/ppt/notesSlides/notesSlide9.xml" Id="Rb93ef4f2ceec4b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dcce4e93a4719" /><Relationship Type="http://schemas.openxmlformats.org/officeDocument/2006/relationships/notesSlide" Target="/ppt/notesSlides/notesSlide10.xml" Id="Rdbf19fcbe88f4b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3b9163b3841a5" /><Relationship Type="http://schemas.openxmlformats.org/officeDocument/2006/relationships/notesSlide" Target="/ppt/notesSlides/notesSlide11.xml" Id="R4d51ab507d4949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e4179b2ff41fa" /><Relationship Type="http://schemas.openxmlformats.org/officeDocument/2006/relationships/notesSlide" Target="/ppt/notesSlides/notesSlide12.xml" Id="Re4c91ca6b32c47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ba368bb2040b2" /><Relationship Type="http://schemas.openxmlformats.org/officeDocument/2006/relationships/notesSlide" Target="/ppt/notesSlides/notesSlide13.xml" Id="Re4b2f32e7d2942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fc3a612944bbf" /><Relationship Type="http://schemas.openxmlformats.org/officeDocument/2006/relationships/notesSlide" Target="/ppt/notesSlides/notesSlide14.xml" Id="Rab73f34b99f741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15b084638494c" /><Relationship Type="http://schemas.openxmlformats.org/officeDocument/2006/relationships/notesSlide" Target="/ppt/notesSlides/notesSlide15.xml" Id="Rfa09e8cc7c1f4c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2f62b14774dad" /><Relationship Type="http://schemas.openxmlformats.org/officeDocument/2006/relationships/notesSlide" Target="/ppt/notesSlides/notesSlide16.xml" Id="Rdd9c5622e3904b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22ddf73a44c71" /><Relationship Type="http://schemas.openxmlformats.org/officeDocument/2006/relationships/notesSlide" Target="/ppt/notesSlides/notesSlide17.xml" Id="R6f42602b5f3149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e9ed6951c4f55" /><Relationship Type="http://schemas.openxmlformats.org/officeDocument/2006/relationships/notesSlide" Target="/ppt/notesSlides/notesSlide18.xml" Id="Ra049712b87854a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29DEB8-53CC-46D7-906E-075B4B6B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064AA97-0BC6-45BA-9084-2DCEF9C0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-182880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A47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684B407-6D6F-4A19-AC66-54EABF7B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206240"/>
            <a:ext cx="3840480" cy="384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A4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9FAD6A-96EB-40C5-A49C-E6992149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MEDICAL SCIENCE LIAISON TRAINING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D9902B3-5CC2-488D-86AE-107AFF02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96012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Ibrance (palbociclib)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8B5E401-CB5A-4337-BC49-3DB11003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MSL scientific training: mechanism, evidence and safety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F9E5762-5C93-4D21-8230-96001B83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6200"/>
            <a:ext cx="1463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B84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14F3D3-34D5-40D9-8EE2-344DEBAA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AB3D6"/>
                </a:solidFill>
                <a:latin typeface="Calibri"/>
                <a:ea typeface="Calibri"/>
                <a:cs typeface="Calibri"/>
              </a:rPr>
              <a:t>Therapeutic area: Breast cancer  |  Product: Ibrance (palbociclib)  |  July 2026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94C446C-7608-400A-BCF5-2CF28377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6364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8891BA"/>
                </a:solidFill>
                <a:latin typeface="Calibri"/>
                <a:ea typeface="Calibri"/>
                <a:cs typeface="Calibri"/>
              </a:rPr>
              <a:t>CONFIDENTIAL — Prepared for Field Medical / MSL use only. Not for promotional use or external distribution.</a:t>
            </a:r>
          </a:p>
        </p:txBody>
      </p:sp>
    </p:spTree>
    <p:extLst>
      <p:ext uri="{BB962C8B-B14F-4D97-AF65-F5344CB8AC3E}">
        <p14:creationId xmlns:p14="http://schemas.microsoft.com/office/powerpoint/2010/main" val="438132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8523CD-9268-418C-89BF-9F53EF62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319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D7C717-CC3D-44A3-9FC6-366A77FD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"/>
            <a:ext cx="31089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Learning</a:t>
            </a:r>
          </a:p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Objectives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0837BB-64FC-438B-A42D-14CAA918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31089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Orient the learner to the depth and scope expected by the end of the module.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AC6F5CC-FA77-448B-8809-D3A99030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932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AAB3D6"/>
                </a:solidFill>
                <a:latin typeface="Calibri"/>
                <a:ea typeface="Calibri"/>
                <a:cs typeface="Calibri"/>
              </a:rPr>
              <a:t>Estimated time: 25 minutes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7983C94-93BA-4A87-866F-CF44388E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02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D30C90-EDC4-4DD1-878A-FE8ABA45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02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11615D9-784A-4D64-9E22-57A18CA4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"/>
            <a:ext cx="6766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Explain the CDK4/6-Rb cell cycle rationale underlying palbociclib's mechanism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FE9A9EA-1F24-49B3-BFA9-E1C151A1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033272"/>
            <a:ext cx="731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C901A67-0D2F-4FFD-94EB-5F39F905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1064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B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E16629-5281-4F7D-AAF5-7144D109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10642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E4A164A-E891-44D9-B679-3DD85EA9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06424"/>
            <a:ext cx="6766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Describe design, endpoints, and results of PALOMA-1, -2, and -3, including limitations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649958C-4C3B-4132-B13B-29E46167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636776"/>
            <a:ext cx="731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0F3BB9B-A8F8-4C29-9589-AA08BB35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7099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B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38931A2-07DE-47FB-8656-ADF4A6FC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70992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1943ED4-ACC8-432A-8458-C94FE6D7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09928"/>
            <a:ext cx="6766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Articulate the neutropenia and ILD/pneumonitis safety profile and monitoring requirements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E46EFD2-27F3-4A9C-A13F-4325F705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40280"/>
            <a:ext cx="731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EF2FD0D-9808-4A51-9CEC-33FFBB26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134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B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7195239-BC8D-41A7-864C-FC870996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134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D0BBF76-6C63-42DC-9E08-46238927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13432"/>
            <a:ext cx="6766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Distinguish on-label vs. off-label/newer indications and indirect vs. head-to-head comparisons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E33F6F8-996E-4B4E-9C8A-5297E0FF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843784"/>
            <a:ext cx="731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26FE2DB-2030-4E2E-BC3B-BD2AC943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91693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B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88AF9EC-B4E5-4D91-AA82-CC040F1E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91693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83D440B-E9A7-4BA7-932A-AA5FAC87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16936"/>
            <a:ext cx="6766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Apply appropriate MSL conduct when fielding unsolicited or off-label questions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E7297B4-0381-480D-BCC0-7F500F51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447288"/>
            <a:ext cx="731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B211B42-FF89-48BA-9BC0-DC005232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5204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B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3B6FAF7-0A89-420F-9951-55701397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5204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1D9F363-D937-4B8C-B36C-2A095197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20440"/>
            <a:ext cx="6766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D7EA3BC-F798-4745-934B-CBD71DCF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050792"/>
            <a:ext cx="731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861CE8A-EF5D-455F-8937-5C1A8981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12394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B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5008327-AB34-42C1-8A45-946013D3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12394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57BD9C5-CBCE-47FF-B4DA-6DCED949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23944"/>
            <a:ext cx="6766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BFB3EB0-AB07-4416-A88B-B8778302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654296"/>
            <a:ext cx="731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024B65F-C33D-42E4-859D-1E892A7B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274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B"/>
          </a:solidFill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D5F17D8-93C6-4C22-92A8-760B3991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274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E1EF7CA-9211-41A7-BA94-9E296B81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27448"/>
            <a:ext cx="6766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CD1B89A-44EC-4778-822B-AB5AB0FA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257800"/>
            <a:ext cx="731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1609838-75CE-4358-BD28-029DCAD8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309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B"/>
          </a:solidFill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66A1DE8-E6BD-4B37-87ED-91566E41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3095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173E7A7D-325E-40D5-ABC4-A5A74D4E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30952"/>
            <a:ext cx="6766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635881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B7174A1-A83D-42E6-AB8D-FFEA31F0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C51188-6455-4B54-B192-C9596B16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12AC06-A4B7-4934-88C7-1611F5C8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Disease Context: HR+/HER2- Advanced Breast Cancer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8917FD-3ADB-45A9-A926-912D4102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Frame the therapeutic area and patient population relevant to Ibrance.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02943D8-3669-4134-9023-DB1B0CA7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94944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5D011E6-6B95-46B9-98B4-76D72D8B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80136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CD3814-4E73-44F0-B209-05CA48F7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80136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F626C16-7772-4A64-B069-FCBB35E6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508760"/>
            <a:ext cx="6035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HR-positive/HER2-negative disease accounts for ~65-70% of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7FB7477-671A-4AA9-BD6A-D49D9EC4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801368"/>
            <a:ext cx="60350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HR-positive/HER2-negative disease accounts for ~65-70% of all breast cancers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NCCN-related statements here are drawn from secondary clinical-education summaries, not the primary NCCN document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5F103CC-E42F-43CC-86C3-5CA9D4C8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6352"/>
            <a:ext cx="694944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28B9C15-83B2-4BC3-9647-416C052A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0040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85CFC39-0F6E-4C17-A20E-0B7B4B57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0040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6FCDC9B-AB27-47CE-B629-AE5FFFEE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907792"/>
            <a:ext cx="6035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CDK4/6 inhibitor + endocrine therapy (AI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AABDE3-0231-4E97-A71D-2F0F5CCD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200400"/>
            <a:ext cx="60350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CDK4/6 inhibitor + endocrine therapy (AI or fulvestrant) is the NCCN-referenced first-line standard for metastatic disease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B0C851D-897E-4F19-959F-E76077B5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5384"/>
            <a:ext cx="694944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327BD58-2B67-45AE-8A8A-5242DCBD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59943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A998A00-6948-4B74-B7FD-3E62F07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59943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922F213-6118-4211-8A54-9B5E9DCF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06824"/>
            <a:ext cx="6035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Sources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93CC004-FCBA-4B21-87FC-F097627A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599432"/>
            <a:ext cx="60350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[1] Systemic therapy for hormone receptor‐positive/HER2‐negative early stage and metastatic… — Huppert 2023, CA Cancer J Clin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[2] A Nurse's Overview of First-Line Treatment for HR+ Metastatic Breast Cancer — OncNursingNews, Sept 2025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C3F42B6-6639-4FA1-A83A-96632ABB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4416"/>
            <a:ext cx="694944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9DF4840-94DB-47BE-867F-BEB28675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9846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6775A75-5A9F-4F18-9E78-F250821B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9846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96FF3DC-9DA2-4166-8F03-23F7131B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705856"/>
            <a:ext cx="6035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4AF1EFD-023C-4522-8828-C0C7CA78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998464"/>
            <a:ext cx="60350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0FC33F6-3342-4908-A10B-897E8AA5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417320"/>
            <a:ext cx="4096512" cy="470916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86CFC12-3528-46FA-A131-C2F75AED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645920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E8B84B"/>
                </a:solidFill>
                <a:latin typeface="Calibri"/>
                <a:ea typeface="Calibri"/>
                <a:cs typeface="Calibri"/>
              </a:rPr>
              <a:t>Driven by estrogen/progesterone receptor signaling and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89030B4-4D4A-47E0-B9E5-EEB64739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AE1C74A-F057-4B1C-8049-58B1558A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377440"/>
            <a:ext cx="356616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Driven by estrogen/progesterone receptor signaling and dysregulated cyclin D-CDK4/6-Rb pathway activity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C8916CA-B6BC-4235-AE92-7A73DEED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66E0998-D24D-4D95-97BF-AD5C5361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3 of 18</a:t>
            </a:r>
          </a:p>
        </p:txBody>
      </p:sp>
    </p:spTree>
    <p:extLst>
      <p:ext uri="{BB962C8B-B14F-4D97-AF65-F5344CB8AC3E}">
        <p14:creationId xmlns:p14="http://schemas.microsoft.com/office/powerpoint/2010/main" val="825235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78B430-3FBD-4B3B-8E7E-2DD62E88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D7A698-84B7-4596-B83B-1DF2F1E1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31CA2B1-E5EB-40C5-9C0E-EF9ABEA3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Cell Cycle Biology: CDK4/6-Rb-E2F Pathway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B63E890-EDED-4D76-8F89-65CBF5FB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Explain the mechanistic rationale for targeting CDK4/6 in ER+ breast cancer.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90E9549-987C-4250-BEFA-FC6C2B05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486400" cy="324612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5B09F9-A48B-482E-B4C6-BEE9E00A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748BD62-AA7C-4389-89E4-B775098F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10058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E2761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8FAAB85-BD79-4362-9AD4-ADF1DE85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53F1530-E8AF-49DE-914A-F2005F70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2928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E6401BE-DD2E-408B-A195-980BD0D5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68880"/>
            <a:ext cx="10058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E2761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9425C53-6149-409E-8617-04C34E03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97480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911E5A7-F582-4606-8DEA-55BB3FDB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852928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6F069C6-BBEA-49E0-8264-C0451E43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468880"/>
            <a:ext cx="10058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E2761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37EE0C1-B3DF-428C-A2D4-79934732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E48A058-1986-4DE6-A39E-FDA2854B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852928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4109942-F82C-42C4-892A-F5770843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468880"/>
            <a:ext cx="10058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E2761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1E7CD7D-B937-4300-9025-DA861906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697480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927A542-0B7B-4D04-9337-289D54FF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0292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[1] PALbociclib CoLlaborative Adjuvant Study (PALLAS) Protocol — Section 1.2, Palbociclib Mechanism of Action</a:t>
            </a:r>
          </a:p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[2] Label: IBRANCE- palbociclib tablet, film coated - DailyMed — Section 12.1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099BC10-0C8A-4FA1-8561-A96D5334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63040"/>
            <a:ext cx="2619756" cy="150876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3DA7B9D-D889-4697-A4A1-F7C939A1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572768"/>
            <a:ext cx="22905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CDK4/6 bind D-type cyclins to control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7565875-AB37-4250-B1F1-E8025FE1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865376"/>
            <a:ext cx="22905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CDK4/6 bind D-type cyclins to control the G1-to-S phase cell cycle transition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D45256F-C491-4832-ABE9-0B421D46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996" y="1463040"/>
            <a:ext cx="2619756" cy="150876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FEFB071-16D5-4B8E-A642-334CA495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1572768"/>
            <a:ext cx="22905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The CDK4/6-cyclin D1 complex phosphorylates retinoblastoma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C423B38-93FE-49BB-A723-FA012AEE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1865376"/>
            <a:ext cx="22905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The CDK4/6-cyclin D1 complex phosphorylates retinoblastoma protein (Rb), releasing E2F/DP transcription factors that drive S-phase entry genes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56BF441-86A1-452C-98A2-FF8B500B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200400"/>
            <a:ext cx="2619756" cy="150876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CE2C8FE-6C2D-4A5A-8C94-5E1FD81D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310128"/>
            <a:ext cx="22905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Cyclin D1 is a direct transcriptional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63AF228-71BE-43A1-BDA1-750414A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602736"/>
            <a:ext cx="22905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Cyclin D1 is a direct transcriptional target of estrogen receptor signaling, linking ER activity to cell cycle progression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22C307D-5661-4DFC-B46E-76F52E99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996" y="3200400"/>
            <a:ext cx="2619756" cy="150876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CFD2D93-9B6F-4E79-B263-64D1335D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3310128"/>
            <a:ext cx="22905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Hyperactivation of cyclin D1-CDK4/6 signaling is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2E51BFF-FB94-460E-B56C-F44DBE2B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3602736"/>
            <a:ext cx="22905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Hyperactivation of cyclin D1-CDK4/6 signaling is particularly common in ER+ breast cancer, providing the disease-biology rationale for CDK4/6 inhibition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50F7EBA-693F-44F7-807D-93D0F356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6320"/>
            <a:ext cx="112471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0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8B2FCB3-6184-4405-89B6-6145F1B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4561564-95D5-4E48-B3C2-81EEA86E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4 of 18</a:t>
            </a:r>
          </a:p>
        </p:txBody>
      </p:sp>
    </p:spTree>
    <p:extLst>
      <p:ext uri="{BB962C8B-B14F-4D97-AF65-F5344CB8AC3E}">
        <p14:creationId xmlns:p14="http://schemas.microsoft.com/office/powerpoint/2010/main" val="2791913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78B430-3FBD-4B3B-8E7E-2DD62E88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D7A698-84B7-4596-B83B-1DF2F1E1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31CA2B1-E5EB-40C5-9C0E-EF9ABEA3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Ibrance Mechanism of Action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B63E890-EDED-4D76-8F89-65CBF5FB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Describe how palbociclib exerts its antitumor effect at the molecular level.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90E9549-987C-4250-BEFA-FC6C2B05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486400" cy="324612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5B09F9-A48B-482E-B4C6-BEE9E00A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748BD62-AA7C-4389-89E4-B775098F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10058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E2761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8FAAB85-BD79-4362-9AD4-ADF1DE85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53F1530-E8AF-49DE-914A-F2005F70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2928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E6401BE-DD2E-408B-A195-980BD0D5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68880"/>
            <a:ext cx="10058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E2761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9425C53-6149-409E-8617-04C34E03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97480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911E5A7-F582-4606-8DEA-55BB3FDB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852928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6F069C6-BBEA-49E0-8264-C0451E43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468880"/>
            <a:ext cx="10058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E2761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37EE0C1-B3DF-428C-A2D4-79934732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E48A058-1986-4DE6-A39E-FDA2854B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852928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4109942-F82C-42C4-892A-F5770843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468880"/>
            <a:ext cx="10058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E2761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1E7CD7D-B937-4300-9025-DA861906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697480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927A542-0B7B-4D04-9337-289D54FF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0292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[1] PALbociclib CoLlaborative Adjuvant Study (PALLAS) Protocol — Section 1.2, Palbociclib Mechanism of Action</a:t>
            </a:r>
          </a:p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[2] Label: IBRANCE- palbociclib tablet, film coated - DailyMed — Section 12.1</a:t>
            </a:r>
          </a:p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[3] Palbociclib Mechanism of Action | Elicit — Rb restriction-point blockade section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099BC10-0C8A-4FA1-8561-A96D5334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63040"/>
            <a:ext cx="2619756" cy="150876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3DA7B9D-D889-4697-A4A1-F7C939A1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572768"/>
            <a:ext cx="22905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First-in-class, orally administered, highly selective, reversible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7565875-AB37-4250-B1F1-E8025FE1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865376"/>
            <a:ext cx="22905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First-in-class, orally administered, highly selective, reversible CDK4/6 inhibitor (IC50 = 11 nM; Ki = 2 nM)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D45256F-C491-4832-ABE9-0B421D46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996" y="1463040"/>
            <a:ext cx="2619756" cy="150876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FEFB071-16D5-4B8E-A642-334CA495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1572768"/>
            <a:ext cx="22905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Blocks Rb phosphorylation, arresting susceptible ER+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C423B38-93FE-49BB-A723-FA012AEE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1865376"/>
            <a:ext cx="22905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Blocks Rb phosphorylation, arresting susceptible ER+ tumor cells in G1 phase and reducing proliferation (in vitro)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56BF441-86A1-452C-98A2-FF8B500B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200400"/>
            <a:ext cx="2619756" cy="150876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CE2C8FE-6C2D-4A5A-8C94-5E1FD81D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310128"/>
            <a:ext cx="22905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Combination with antiestrogens increases growth arrest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63AF228-71BE-43A1-BDA1-750414A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602736"/>
            <a:ext cx="22905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Combination with antiestrogens increases growth arrest and cell senescence versus either agent alone (nonclinical, sustained up to 6 days post-removal)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22C307D-5661-4DFC-B46E-76F52E99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996" y="3200400"/>
            <a:ext cx="2619756" cy="150876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CFD2D93-9B6F-4E79-B263-64D1335D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3310128"/>
            <a:ext cx="22905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Activity is Rb-dependent in nonclinical models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2E51BFF-FB94-460E-B56C-F44DBE2B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3602736"/>
            <a:ext cx="22905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Activity is Rb-dependent in nonclinical models; no activity observed in Rb-deficient cells – mechanistic/nonclinical finding, not a clinical biomarker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50F7EBA-693F-44F7-807D-93D0F356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6320"/>
            <a:ext cx="112471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0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8B2FCB3-6184-4405-89B6-6145F1B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4561564-95D5-4E48-B3C2-81EEA86E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5 of 18</a:t>
            </a:r>
          </a:p>
        </p:txBody>
      </p:sp>
    </p:spTree>
    <p:extLst>
      <p:ext uri="{BB962C8B-B14F-4D97-AF65-F5344CB8AC3E}">
        <p14:creationId xmlns:p14="http://schemas.microsoft.com/office/powerpoint/2010/main" val="2791913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78B430-3FBD-4B3B-8E7E-2DD62E88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D7A698-84B7-4596-B83B-1DF2F1E1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31CA2B1-E5EB-40C5-9C0E-EF9ABEA3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Pharmacokinetics and Administration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B63E890-EDED-4D76-8F89-65CBF5FB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Summarize key PK parameters relevant to dosing counseling and drug interaction discussions.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90E9549-987C-4250-BEFA-FC6C2B05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486400" cy="324612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5B09F9-A48B-482E-B4C6-BEE9E00A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748BD62-AA7C-4389-89E4-B775098F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10058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E2761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8FAAB85-BD79-4362-9AD4-ADF1DE85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53F1530-E8AF-49DE-914A-F2005F70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2928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E6401BE-DD2E-408B-A195-980BD0D5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68880"/>
            <a:ext cx="10058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E2761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9425C53-6149-409E-8617-04C34E03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97480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911E5A7-F582-4606-8DEA-55BB3FDB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852928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6F069C6-BBEA-49E0-8264-C0451E43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468880"/>
            <a:ext cx="10058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E2761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37EE0C1-B3DF-428C-A2D4-79934732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E48A058-1986-4DE6-A39E-FDA2854B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852928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4109942-F82C-42C4-892A-F5770843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468880"/>
            <a:ext cx="10058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1E2761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1E7CD7D-B937-4300-9025-DA861906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697480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927A542-0B7B-4D04-9337-289D54FF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0292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• Severe hepatic impairment (Child-Pugh C) requires dose reduction to 75 mg once daily on the same schedule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099BC10-0C8A-4FA1-8561-A96D5334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63040"/>
            <a:ext cx="2619756" cy="150876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3DA7B9D-D889-4697-A4A1-F7C939A1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572768"/>
            <a:ext cx="22905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Mean absolute oral bioavailability ~46%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7565875-AB37-4250-B1F1-E8025FE1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865376"/>
            <a:ext cx="22905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Mean absolute oral bioavailability ~46%; steady state achieved within 8 days of once-daily dosing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D45256F-C491-4832-ABE9-0B421D46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996" y="1463040"/>
            <a:ext cx="2619756" cy="150876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FEFB071-16D5-4B8E-A642-334CA495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1572768"/>
            <a:ext cx="22905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Mean elimination half-life ~29 hours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C423B38-93FE-49BB-A723-FA012AEE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1865376"/>
            <a:ext cx="22905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Mean elimination half-life ~29 hours; accumulates with repeated dosing (median accumulation ratio 2.4)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56BF441-86A1-452C-98A2-FF8B500B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200400"/>
            <a:ext cx="2619756" cy="150876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CE2C8FE-6C2D-4A5A-8C94-5E1FD81D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310128"/>
            <a:ext cx="22905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Capsule formulation must be taken with food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63AF228-71BE-43A1-BDA1-750414A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602736"/>
            <a:ext cx="22905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Capsule formulation must be taken with food; tablet formulation may be taken with or without food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22C307D-5661-4DFC-B46E-76F52E99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996" y="3200400"/>
            <a:ext cx="2619756" cy="150876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CFD2D93-9B6F-4E79-B263-64D1335D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3310128"/>
            <a:ext cx="22905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Primarily metabolized by CYP3A and SULT2A1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2E51BFF-FB94-460E-B56C-F44DBE2B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3602736"/>
            <a:ext cx="22905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Primarily metabolized by CYP3A and SULT2A1; palbociclib is a weak time-dependent CYP3A inhibitor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50F7EBA-693F-44F7-807D-93D0F356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6320"/>
            <a:ext cx="112471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0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[1] IBRANCE tablets (palbociclib) Clinical Pharmacology - Pfizer Medical — Section 12.3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0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[2] Label: IBRANCE- palbociclib capsule - DailyMed - NIH — Section 12.3, Hepatic Impairment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8B2FCB3-6184-4405-89B6-6145F1B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4561564-95D5-4E48-B3C2-81EEA86E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6 of 18</a:t>
            </a:r>
          </a:p>
        </p:txBody>
      </p:sp>
    </p:spTree>
    <p:extLst>
      <p:ext uri="{BB962C8B-B14F-4D97-AF65-F5344CB8AC3E}">
        <p14:creationId xmlns:p14="http://schemas.microsoft.com/office/powerpoint/2010/main" val="279191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15EB647-7C5B-4EC2-AC41-1DD675A6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34BC6B-2C16-4C8D-8694-C84DFF1E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1B9CD9C-98B7-43B4-AC2C-EC400195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FDA-Approved Indications and Timeline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9BC1DC-82F9-4AC3-A164-78BACA21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Provide a clear map of on-label indications and their evidentiary basis, including newer…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A6CDF89-2E2F-4508-ADD4-07E0E51D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F9E8B75-6E20-4947-8238-5A11E46E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7053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7C82BE4-5BD6-43C4-A300-C3525F1A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7053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7B04FFC-2F5E-4368-916D-07859833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5544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Feb 2015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8270D98-2096-43E9-8DDE-F940606F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847088"/>
            <a:ext cx="4480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Feb 2015: accelerated approval with letrozole (PALOMA-1); Feb/Mar 2017: regular approval confirmed by PALOMA-2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A June 2026-dated FDA approval for trastuzumab ± pertuzumab + endocrine therapy maintenance in HR+/HER2+ disease (PATINA) appears in retrieved sources; verify against DailyMed/FDA.gov at time of use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25D764B-D233-479B-B8FD-6CFD22FA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8B983EB-65B4-4F21-B665-BAEEE97B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164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CD6B0E7-02C9-4441-99EC-DCF73FB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1645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0B09C53-4E32-4319-9ABC-C0C6E050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20040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2019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90AD38-1870-458D-9BE8-10402BD9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493008"/>
            <a:ext cx="4480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2019: label expanded to include male patients with advanced/metastatic breast cancer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EE01007-F8A9-44B9-B912-2ED388F0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07C8CB7-997F-41DE-820F-C3FD6067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2623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8353EA-04C1-44B9-AD03-BCE93068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2623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4358806-0AC6-4E08-A53B-4AB88A36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84632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Sources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3C0637D-7EEE-4024-B971-F4669B7F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138928"/>
            <a:ext cx="4480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[1] Ibrance (palbociclib) FDA Approval History - Drugs.com — Approval history section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[2] FDA approves inavolisib with palbociclib and fulvestrant for endocrine-resistant,… — Approval and trial description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[3] FDA approves palbociclib with trastuzumab, with or without pertuzumab, and endocrine… — Approval summary paragraph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F77668C-84B8-481C-84EB-1BB425B5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463040"/>
            <a:ext cx="5605272" cy="4617720"/>
          </a:xfrm>
          <a:prstGeom xmlns:a="http://schemas.openxmlformats.org/drawingml/2006/main" prst="roundRect">
            <a:avLst>
              <a:gd name="adj" fmla="val 158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49354F4-3B12-4561-94F4-1EF3BC08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16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Feb 2016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F2AE852-3AC8-4A89-B365-724B1DE7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502920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Feb 2016: approval with fulvestrant for disease progression after endocrine therapy (PALOMA-3)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38FD3A0-13CD-455B-986C-672FDABF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9200"/>
            <a:ext cx="5056632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12700">
            <a:solidFill>
              <a:srgbClr val="E8B84B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9FCFE8C-ACE7-4132-9A9E-A02E6C24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029200"/>
            <a:ext cx="46908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7A5200"/>
                </a:solidFill>
                <a:latin typeface="Calibri"/>
                <a:ea typeface="Calibri"/>
                <a:cs typeface="Calibri"/>
              </a:rPr>
              <a:t>• Oct 2024: combination with inavolisib + fulvestrant for endocrine-resistant, PIK3CA-mutated disease (INAVO120) – confirm current PI before discussion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71252A8-022E-4986-8490-65E834E2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EE09121-0CCB-4A6D-8EA6-3DC529B4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7 of 18</a:t>
            </a:r>
          </a:p>
        </p:txBody>
      </p:sp>
    </p:spTree>
    <p:extLst>
      <p:ext uri="{BB962C8B-B14F-4D97-AF65-F5344CB8AC3E}">
        <p14:creationId xmlns:p14="http://schemas.microsoft.com/office/powerpoint/2010/main" val="1523387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3A8DA1B-3DAE-46EE-90A3-6877E4B4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11389D-CCEA-41E2-ABDA-3EEC0EAD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0CC1164-8BB4-4A40-AAD8-BD3C3540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PALOMA-1: Proof-of-Concept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A192899-5117-4CF8-872B-DBD7AA40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Establish the foundational trial that supported initial accelerated approval.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5A9A8EA-EBDA-466F-9C46-81C0233B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6FE8B29-7D55-4D96-B00D-8A67CE10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Open-label, randomized Phase I/II trial (TRIO-18)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D421-A9C1-4B08-9048-CE2A3765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Open-label, randomized Phase I/II trial (TRIO-18); 165 postmenopausal women, ER+/HER2- advanced breast cancer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327A03B-7B7D-4BCD-9A42-DB26882E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F24C3B1-F6BE-4807-95F9-99296C37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580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Palbociclib 125 mg/day (3 weeks on/1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52DEDFB-1255-4682-BBDB-741B1F90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580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Palbociclib 125 mg/day (3 weeks on/1 week off) + letrozole 2.5 mg/day vs. letrozole alone; primary endpoint: investigator-assessed PFS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9374245-8367-4856-877E-433D403A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E6AEDF4-38FD-407B-8600-B03C58F2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Large PFS improvement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8C69C3-18C9-4C97-9734-D48F2306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Large PFS improvement: HR 0.488 (95% CI, 0.319-0.748); median PFS 20.2 vs. 10.2 months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0D565CE-71A9-460B-AA1B-F5378479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564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D9B862-29A6-42E7-B0D6-94D463C3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156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Most common AE was neutropenia (Grade 3, 48%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7B9B456-0D1C-4EE8-B9D6-1EE46137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156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Most common AE was neutropenia (Grade 3, 48%; Grade 4, 6%) – basis for Feb 2015 accelerated approval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AF3D46D-66F9-4692-912A-660F6CD0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B8A02E3-31B9-4AB1-A255-1AED4C63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566160"/>
            <a:ext cx="4736592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626E477-1A90-4A70-9F6B-AFA56292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4206240" cy="2331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[1] FDA Approval: Palbociclib for the Treatment of Postmenopausal Patients with ER-Positive,… — Results section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[2] Overall survival results from the randomized phase 2 study of palbociclib in combination… — Abstract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CF6DF7C-BF3C-427C-A282-137F34CD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4FDECDF-AD96-456F-BEC5-7AE4FAB9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8 of 18</a:t>
            </a:r>
          </a:p>
        </p:txBody>
      </p:sp>
    </p:spTree>
    <p:extLst>
      <p:ext uri="{BB962C8B-B14F-4D97-AF65-F5344CB8AC3E}">
        <p14:creationId xmlns:p14="http://schemas.microsoft.com/office/powerpoint/2010/main" val="17372509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3A8DA1B-3DAE-46EE-90A3-6877E4B4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11389D-CCEA-41E2-ABDA-3EEC0EAD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9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0CC1164-8BB4-4A40-AAD8-BD3C3540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PALOMA-2: First-Line PFS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A192899-5117-4CF8-872B-DBD7AA40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Present the pivotal confirmatory trial and its primary efficacy result.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5A9A8EA-EBDA-466F-9C46-81C0233B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6FE8B29-7D55-4D96-B00D-8A67CE10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Double-blind Phase 3 trial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D421-A9C1-4B08-9048-CE2A3765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Double-blind Phase 3 trial; 666 postmenopausal women with treatment-naive advanced HR+/HER2- disease; randomized 2:1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Also delayed time to chemotherapy (38.1 vs. 29.8 months; HR 0.73) with no new safety signals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327A03B-7B7D-4BCD-9A42-DB26882E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F24C3B1-F6BE-4807-95F9-99296C37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580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Palbociclib + letrozole vs. placebo + letrozole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52DEDFB-1255-4682-BBDB-741B1F90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580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Palbociclib + letrozole vs. placebo + letrozole; primary endpoint: investigator-assessed PFS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9374245-8367-4856-877E-433D403A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E6AEDF4-38FD-407B-8600-B03C58F2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 primary endpoint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8C69C3-18C9-4C97-9734-D48F2306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Met primary endpoint: median PFS 24.8 vs. 14.5 months (HR ~0.58, P&lt;0.001)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0D565CE-71A9-460B-AA1B-F5378479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564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D9B862-29A6-42E7-B0D6-94D463C3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156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Confirmed objective response rate higher with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7B9B456-0D1C-4EE8-B9D6-1EE46137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156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Confirmed objective response rate higher with palbociclib combination (42.1% vs. 34.7%, ITT population)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AF3D46D-66F9-4692-912A-660F6CD0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B8A02E3-31B9-4AB1-A255-1AED4C63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566160"/>
            <a:ext cx="4736592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626E477-1A90-4A70-9F6B-AFA56292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4206240" cy="2331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[1] Palbociclib and Letrozole in Advanced Breast Cancer | NEJM — Results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[2] Pfizer Announces Overall Survival Results from Phase 3 PALOMA-2 Trial of IBRANCE — Press release body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CF6DF7C-BF3C-427C-A282-137F34CD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4FDECDF-AD96-456F-BEC5-7AE4FAB9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9 of 18</a:t>
            </a:r>
          </a:p>
        </p:txBody>
      </p:sp>
    </p:spTree>
    <p:extLst>
      <p:ext uri="{BB962C8B-B14F-4D97-AF65-F5344CB8AC3E}">
        <p14:creationId xmlns:p14="http://schemas.microsoft.com/office/powerpoint/2010/main" val="1737250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3A8DA1B-3DAE-46EE-90A3-6877E4B4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11389D-CCEA-41E2-ABDA-3EEC0EAD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0CC1164-8BB4-4A40-AAD8-BD3C3540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PALOMA-2: Overall Survival Interpretation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A192899-5117-4CF8-872B-DBD7AA40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Ensure MSLs accurately represent the non-significant OS finding and its limitations; avoid…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5A9A8EA-EBDA-466F-9C46-81C0233B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6FE8B29-7D55-4D96-B00D-8A67CE10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OS analysis (median follow-up 90 months)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D421-A9C1-4B08-9048-CE2A3765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Final OS analysis (median follow-up 90 months): 53.9 vs. 51.2 months, HR 0.956 (95% CI 0.777-1.177) – NOT statistically significant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327A03B-7B7D-4BCD-9A42-DB26882E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F24C3B1-F6BE-4807-95F9-99296C37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580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OS was a secondary endpoint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52DEDFB-1255-4682-BBDB-741B1F90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580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OS was a secondary endpoint; the trial was not statistically powered to detect an OS difference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9374245-8367-4856-877E-433D403A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E6AEDF4-38FD-407B-8600-B03C58F2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Interpretation limited by a large, disproportionate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8C69C3-18C9-4C97-9734-D48F2306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Interpretation limited by a large, disproportionate amount of missing/censored survival data between arms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0D565CE-71A9-460B-AA1B-F5378479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564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D9B862-29A6-42E7-B0D6-94D463C3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156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message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7B9B456-0D1C-4EE8-B9D6-1EE46137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156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Key message: do not present this as a confirmed survival benefit in scientific exchange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AF3D46D-66F9-4692-912A-660F6CD0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B8A02E3-31B9-4AB1-A255-1AED4C63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566160"/>
            <a:ext cx="4736592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626E477-1A90-4A70-9F6B-AFA56292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4206240" cy="2331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[1] Pfizer Announces Overall Survival Results from Phase 3 PALOMA-2 Trial of IBRANCE — Results paragraph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[2] PALOMA-2: No Overall Survival Benefit Reported With Palbociclib/Letrozole in Advanced… — Results summary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CF6DF7C-BF3C-427C-A282-137F34CD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4FDECDF-AD96-456F-BEC5-7AE4FAB9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10 of 18</a:t>
            </a:r>
          </a:p>
        </p:txBody>
      </p:sp>
    </p:spTree>
    <p:extLst>
      <p:ext uri="{BB962C8B-B14F-4D97-AF65-F5344CB8AC3E}">
        <p14:creationId xmlns:p14="http://schemas.microsoft.com/office/powerpoint/2010/main" val="17372509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3A8DA1B-3DAE-46EE-90A3-6877E4B4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11389D-CCEA-41E2-ABDA-3EEC0EAD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0CC1164-8BB4-4A40-AAD8-BD3C3540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PALOMA-3: Endocrine-Resistant Setting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A192899-5117-4CF8-872B-DBD7AA40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Present the trial supporting the fulvestrant combination and the evolving OS picture with…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5A9A8EA-EBDA-466F-9C46-81C0233B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6FE8B29-7D55-4D96-B00D-8A67CE10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Phase 3, double-blind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D421-A9C1-4B08-9048-CE2A3765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Phase 3, double-blind; 521 women with disease progression after prior endocrine therapy; palbociclib + fulvestrant vs. placebo + fulvestrant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327A03B-7B7D-4BCD-9A42-DB26882E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F24C3B1-F6BE-4807-95F9-99296C37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580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Primary endpoint met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52DEDFB-1255-4682-BBDB-741B1F90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580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Primary endpoint met: PFS 9.5 vs. 4.6 months (HR 0.46, 95% CI 0.36-0.59) – basis for approval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9374245-8367-4856-877E-433D403A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E6AEDF4-38FD-407B-8600-B03C58F2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protocol-specified OS analysis (44.8-month follow-up):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8C69C3-18C9-4C97-9734-D48F2306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Final protocol-specified OS analysis (44.8-month follow-up): 34.9 vs. 28.0 months, HR 0.81 (95% CI 0.64-1.03) – not statistically significant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0D565CE-71A9-460B-AA1B-F5378479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564" y="1463040"/>
            <a:ext cx="2647188" cy="155448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D9B862-29A6-42E7-B0D6-94D463C3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156" y="157276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Later exploratory analysis (73.3-month follow-up, 75%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7B9B456-0D1C-4EE8-B9D6-1EE46137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156" y="1865376"/>
            <a:ext cx="231800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• Later exploratory analysis (73.3-month follow-up, 75% of patients died): HR 0.81 (95% CI 0.65-0.99) reached significance – this is a post-hoc/exploratory finding, not the primary powered analysis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AF3D46D-66F9-4692-912A-660F6CD0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B8A02E3-31B9-4AB1-A255-1AED4C63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566160"/>
            <a:ext cx="4736592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626E477-1A90-4A70-9F6B-AFA56292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4206240" cy="2331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[1] FDA Approval of Palbociclib in Combination with Fulvestrant for HR+, HER2- Metastatic… — Results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[2] Overall Survival with Palbociclib and Fulvestrant in Women with HR+/HER2− ABC: Updated… — Abstract/Results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CF6DF7C-BF3C-427C-A282-137F34CD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4FDECDF-AD96-456F-BEC5-7AE4FAB9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11 of 18</a:t>
            </a:r>
          </a:p>
        </p:txBody>
      </p:sp>
    </p:spTree>
    <p:extLst>
      <p:ext uri="{BB962C8B-B14F-4D97-AF65-F5344CB8AC3E}">
        <p14:creationId xmlns:p14="http://schemas.microsoft.com/office/powerpoint/2010/main" val="17372509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15EB647-7C5B-4EC2-AC41-1DD675A6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34BC6B-2C16-4C8D-8694-C84DFF1E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12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1B9CD9C-98B7-43B4-AC2C-EC400195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Newer Indications: INAVO120 and PATINA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9BC1DC-82F9-4AC3-A164-78BACA21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Highlight the newest combination regimens; flag as newer evidence requiring PI verification.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A6CDF89-2E2F-4508-ADD4-07E0E51D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F9E8B75-6E20-4947-8238-5A11E46E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7053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7C82BE4-5BD6-43C4-A300-C3525F1A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7053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7B04FFC-2F5E-4368-916D-07859833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5544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INAVO120 (approved Oct 2024)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8270D98-2096-43E9-8DDE-F940606F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847088"/>
            <a:ext cx="4480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INAVO120 (approved Oct 2024): inavolisib + palbociclib + fulvestrant for endocrine-resistant, PIK3CA-mutated disease; PFS 15.0 vs. 7.3 months for placebo combination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25D764B-D233-479B-B8FD-6CFD22FA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8B983EB-65B4-4F21-B665-BAEEE97B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164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CD6B0E7-02C9-4441-99EC-DCF73FB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1645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0B09C53-4E32-4319-9ABC-C0C6E050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20040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PATINA overall survival data described in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90AD38-1870-458D-9BE8-10402BD9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493008"/>
            <a:ext cx="4480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PATINA overall survival data described in sources as immature at time of approval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EE01007-F8A9-44B9-B912-2ED388F0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07C8CB7-997F-41DE-820F-C3FD6067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2623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8353EA-04C1-44B9-AD03-BCE93068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2623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4358806-0AC6-4E08-A53B-4AB88A36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84632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Sources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3C0637D-7EEE-4024-B971-F4669B7F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138928"/>
            <a:ext cx="4480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[1] FDA approves inavolisib with palbociclib and fulvestrant for endocrine-resistant,… — Dosing regimen paragraph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[2] FDA approves palbociclib with trastuzumab, with or without pertuzumab, and endocrine… — Efficacy/PATINA description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F77668C-84B8-481C-84EB-1BB425B5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463040"/>
            <a:ext cx="5605272" cy="4617720"/>
          </a:xfrm>
          <a:prstGeom xmlns:a="http://schemas.openxmlformats.org/drawingml/2006/main" prst="roundRect">
            <a:avLst>
              <a:gd name="adj" fmla="val 158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E2E6F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49354F4-3B12-4561-94F4-1EF3BC08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16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PATINA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F2AE852-3AC8-4A89-B365-724B1DE7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502920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PATINA: palbociclib + trastuzumab ± pertuzumab + endocrine therapy maintenance for HR+/HER2+ disease; investigator-assessed PFS HR 0.76 (95% CI 0.59-0.97)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38FD3A0-13CD-455B-986C-672FDABF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9200"/>
            <a:ext cx="5056632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12700">
            <a:solidFill>
              <a:srgbClr val="E8B84B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9FCFE8C-ACE7-4132-9A9E-A02E6C24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029200"/>
            <a:ext cx="46908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7A5200"/>
                </a:solidFill>
                <a:latin typeface="Calibri"/>
                <a:ea typeface="Calibri"/>
                <a:cs typeface="Calibri"/>
              </a:rPr>
              <a:t>• Both regimens represent evolving label content – MSLs should confirm current Prescribing Information before any scientific exchange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71252A8-022E-4986-8490-65E834E2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EE09121-0CCB-4A6D-8EA6-3DC529B4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12 of 18</a:t>
            </a:r>
          </a:p>
        </p:txBody>
      </p:sp>
    </p:spTree>
    <p:extLst>
      <p:ext uri="{BB962C8B-B14F-4D97-AF65-F5344CB8AC3E}">
        <p14:creationId xmlns:p14="http://schemas.microsoft.com/office/powerpoint/2010/main" val="15233874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58A4D86-A69B-4477-A550-94D7DFFE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536DADB-D27C-4BAA-8B38-F21FE2D4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13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E5F1DE-298A-446E-B23E-B60183B8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Safety: Neutropenia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7686C0-1F10-4364-9BFE-2F04CEB7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Establish the most consistent and clinically significant safety signal and its management.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B7416B6-E666-4619-B3B0-AAA871B0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3605784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49C09C1-8F7D-4DD8-912F-5713DFB7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Most frequently reported AE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C657D8D-9067-4456-8CCB-5851873D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865376"/>
            <a:ext cx="327660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Most frequently reported AE: 80% (PALOMA-2) and 83% (PALOMA-3) of patients, any grade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14A690A-E5F2-4A2E-B6B2-497DD0E7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584" y="1463040"/>
            <a:ext cx="3605784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4DDDE1-739A-4F2B-8FEE-315D8C65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157276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Grade 3/4 neutropenia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6A9B1F3-17C7-4044-910B-8AADA3AF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1865376"/>
            <a:ext cx="327660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Grade 3/4 neutropenia: 56%/10% (PALOMA-2) and 55%/11% (PALOMA-3) with respective combinations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0C15131-6FF3-4DB1-ABC0-87EC08E9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968" y="1463040"/>
            <a:ext cx="3605784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EABB3E1-DA75-4C05-9CDC-3CAF78B5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57276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Median time to onset ~15 days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0221B98-2930-477D-B508-07E6FE37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865376"/>
            <a:ext cx="327660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Median time to onset ~15 days (any grade), ~28 days (Grade ≥3); median duration of Grade ≥3 episode ~7 days; non-cumulative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C840A73-0CB6-4837-9139-B819EFD8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1820"/>
            <a:ext cx="3605784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BA54EFB-1F3C-4440-9FD5-4433BD1D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4154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Required monitoring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7A42999-0FFA-4DC0-B79C-D8520032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534156"/>
            <a:ext cx="327660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Required monitoring: CBC before starting, Day 15 of cycles 1-2, and at start of each subsequent cycle; dose interrupt/reduce for Grade 3/4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2D9C684-DC8F-4963-8F4B-8B17F285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584" y="3131820"/>
            <a:ext cx="3605784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756D4B1-FA7C-45AE-892C-FABC0F9A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324154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Febrile neutropenia in 1.8% across PALOMA-2/3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5EE121C-2C69-4081-98CA-74125E29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3534156"/>
            <a:ext cx="327660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Febrile neutropenia in 1.8% across PALOMA-2/3; one neutropenic sepsis death reported in PALOMA-3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E2444AF-EE59-49C2-9AC6-E6B8EDB1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968" y="3131820"/>
            <a:ext cx="3605784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AF04C84-ECB9-4321-A4D6-A7DDD72F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324154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Sources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4115F74-7B5A-4178-986B-C1656C43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3534156"/>
            <a:ext cx="327660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[1] Label: IBRANCE- palbociclib capsule - DailyMed - NIH — Warnings and Precautions - Neutropenia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[2] Palbociclib with Letrozole in Postmenopausal Women with ER+/HER2− Advanced Breast… — Abstract / Results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[3] Pfizer Announces Overall Survival Results from Phase 3 PALOMA-3 Trial of IBRANCE — Safety information section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B39E432-27B6-4072-B46E-53BD755F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1274552" cy="123444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9C9183C-B29D-4030-8A30-FB3BDFA9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00600"/>
            <a:ext cx="1060704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087767F-9FC2-4159-9DAE-AF6DF0CF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D32C584-8B09-460F-9E7D-4A570896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13 of 18</a:t>
            </a:r>
          </a:p>
        </p:txBody>
      </p:sp>
    </p:spTree>
    <p:extLst>
      <p:ext uri="{BB962C8B-B14F-4D97-AF65-F5344CB8AC3E}">
        <p14:creationId xmlns:p14="http://schemas.microsoft.com/office/powerpoint/2010/main" val="740442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58A4D86-A69B-4477-A550-94D7DFFE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536DADB-D27C-4BAA-8B38-F21FE2D4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E5F1DE-298A-446E-B23E-B60183B8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Safety: ILD/Pneumonitis and Drug Interactions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7686C0-1F10-4364-9BFE-2F04CEB7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Round out the safety picture with less frequent but serious risks and key interaction…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B7416B6-E666-4619-B3B0-AAA871B0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3605784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49C09C1-8F7D-4DD8-912F-5713DFB7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ILD/pneumonitis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C657D8D-9067-4456-8CCB-5851873D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865376"/>
            <a:ext cx="327660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ILD/pneumonitis: 1% any grade, 0.1% Grade 3/4 across PALOMA-1/2/3 trials; no fatalities in these trials, but fatalities reported in postmarketing setting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14A690A-E5F2-4A2E-B6B2-497DD0E7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584" y="1463040"/>
            <a:ext cx="3605784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4DDDE1-739A-4F2B-8FEE-315D8C65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157276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Label directs immediate interruption for suspected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6A9B1F3-17C7-4044-910B-8AADA3AF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1865376"/>
            <a:ext cx="327660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Label directs immediate interruption for suspected pneumonitis and permanent discontinuation for severe ILD/pneumonitis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0C15131-6FF3-4DB1-ABC0-87EC08E9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968" y="1463040"/>
            <a:ext cx="3605784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EABB3E1-DA75-4C05-9CDC-3CAF78B5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57276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Embryo-fetal toxicity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0221B98-2930-477D-B508-07E6FE37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865376"/>
            <a:ext cx="327660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Embryo-fetal toxicity: effective contraception required (females ≥3 weeks, males ≥3 months post-dose); avoid breastfeeding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C840A73-0CB6-4837-9139-B819EFD8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1820"/>
            <a:ext cx="3605784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BA54EFB-1F3C-4440-9FD5-4433BD1D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4154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Avoid strong CYP3A inhibitors/inducers and grapefruit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7A42999-0FFA-4DC0-B79C-D8520032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534156"/>
            <a:ext cx="327660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Avoid strong CYP3A inhibitors/inducers and grapefruit products; dose of sensitive CYP3A substrates with narrow therapeutic index may need reduction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2D9C684-DC8F-4963-8F4B-8B17F285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584" y="3131820"/>
            <a:ext cx="3605784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756D4B1-FA7C-45AE-892C-FABC0F9A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324154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Sources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5EE121C-2C69-4081-98CA-74125E29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3534156"/>
            <a:ext cx="327660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[1] Label: IBRANCE- palbociclib capsule - DailyMed - NIH — Warnings and Precautions - ILD/Pneumonitis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[2] full prescribing information for IBRANCE — Use in Specific Populations (8.1, 8.2, 8.3)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[3] full prescribing information for IBRANCE - Pfizer labeling — Section 12.3, CYP3A Inhibitors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E2444AF-EE59-49C2-9AC6-E6B8EDB1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968" y="3131820"/>
            <a:ext cx="3605784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AF04C84-ECB9-4321-A4D6-A7DDD72F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324154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4115F74-7B5A-4178-986B-C1656C43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3534156"/>
            <a:ext cx="327660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B39E432-27B6-4072-B46E-53BD755F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1274552" cy="123444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9C9183C-B29D-4030-8A30-FB3BDFA9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00600"/>
            <a:ext cx="1060704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087767F-9FC2-4159-9DAE-AF6DF0CF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D32C584-8B09-460F-9E7D-4A570896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14 of 18</a:t>
            </a:r>
          </a:p>
        </p:txBody>
      </p:sp>
    </p:spTree>
    <p:extLst>
      <p:ext uri="{BB962C8B-B14F-4D97-AF65-F5344CB8AC3E}">
        <p14:creationId xmlns:p14="http://schemas.microsoft.com/office/powerpoint/2010/main" val="740442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B4F7567-2DBF-4B15-B7A6-F3EF9885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7B024D-9163-4A03-A1BF-323B6DBE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15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A87D7EB-7802-4727-8D51-EBA1364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CDK4/6 Class Comparison: Indirect Evidence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0D7E128-8826-426A-9FC5-8C6089E7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Equip MSLs to discuss class positioning accurately without overstating comparative claims.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D8124F7-B985-47E2-B98F-C0700CDB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2743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A47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18EA071-D9F1-46D2-BC75-0082A5FD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5" b="1">
                <a:solidFill>
                  <a:srgbClr val="FFFFFF"/>
                </a:solidFill>
              </a:rPr>
              <a:t>Evidence type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3A8D945-0519-4B27-8D40-92F58751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08760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85C52F-926F-49AE-95CE-AC08E68D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08760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Finding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9E6EC64-4722-462C-A6B5-C4F2FDDF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508760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A47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20E0E5B-9F10-48E9-9166-3FD5220A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1508760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Interpretation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C061559-C77F-4E98-8452-83D16D18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508760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A47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B559372-A7E5-41CE-82D2-D3F56907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508760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Guardrail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76855FE-0C87-4AF0-8DC9-A6C8EB81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5688"/>
            <a:ext cx="2743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DBF689D-1A9A-4F4E-B120-45D5B8C4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75688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Head-to-head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12B963B-4A09-4B33-8B85-DAE3C774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75688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A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1D49DD8-ADE0-4264-8BF9-141F9271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75688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No randomized comparison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6FD1460-62D3-498B-8967-E4BEA388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075688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808D30C-3A08-4A6C-AE03-7E16698A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75688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No direct efficacy ranking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B80D337-6A9E-4C59-A8AF-4AFB6F60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075688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5ABF6D3-B9FC-4F38-BBEA-C1937BDA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075688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Indirect evidence only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BC545BD-7746-4D0E-A0DE-1422EC66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2616"/>
            <a:ext cx="2743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17290A-3551-45F6-9207-783239B9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42616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Network meta-analysis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8828362-539C-4A99-930A-AB60E64D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42616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A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1A0019C-317B-4885-B29B-11A3B848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42616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One analysis: no OS difference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049FF89-4605-4FA9-A433-8EBBD680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642616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E0F9E36-1A41-4295-8153-A2534F6A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642616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Another favored ribociclib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0905E9A-8063-41F6-9D24-5770961A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642616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89FAF59-7008-4BCB-8F4A-1C9EDCFE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642616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Results conflict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DAB3D7B-9F9E-4560-89A5-03F3D17E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544"/>
            <a:ext cx="2743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294A8D2-AE70-4ADB-B662-682DD397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9544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Real-world cohorts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E6F2555-C4B9-4ECE-B1E2-3AA2E3DF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9544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A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60283DA-E8BA-4BE7-B596-051F0D42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09544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PALMARES-2 favored alternatives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7F6D186-AE63-430A-A816-5311A488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3209544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C4E478A-14C3-409E-8F4D-30F80E4F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209544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Large US cohort: no OS difference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8F497F64-B871-4953-B76C-531E62B6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09544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C37D44E-2F0C-4386-8C5A-80B045B2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3209544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Observational limits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1DB83FAF-1AEC-4FF3-80A0-C9CAFA50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6472"/>
            <a:ext cx="2743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B7F259C-B9AD-4EF1-8B70-266B428C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76472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Tolerability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E391E23A-F40F-4F91-9FCC-10A10C0C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76472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A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37149402-6DCE-409C-BCEA-884FE405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76472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Palbociclib: more neutropenia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21877364-D3BE-4A8C-88E3-E95B5AA9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3776472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1A820A2-001B-43D0-97B4-15BC8DC3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776472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Abemaciclib: more diarrhea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C26C68B8-53B1-44F5-9014-5AF85AA0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776472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50136CEE-29D8-4745-9199-F47ABF0A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3776472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Apply patient context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73C860AC-2DF9-4446-BB8D-2FB84880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2743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E5DE87EC-1BF3-42DE-829E-2B50F2FB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19908D86-1AE2-41DA-8676-DF70D150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43400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A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2037B387-8485-487E-AF75-8950D790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343400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[1] Comparative overall survival of CDK4/6…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0C58034D-727A-4B0D-91D5-446C9F5E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4343400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82E5223B-DA22-41F9-831B-4C22090A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343400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[2] Real-world effectiveness comparison of…</a:t>
            </a:r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E8A5860B-9E11-46E5-BFF2-DBCC3CB0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343400"/>
            <a:ext cx="284378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C2D61C72-7AEA-4A16-A4C2-4ED2270E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343400"/>
            <a:ext cx="2660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[3] Comparative overall survival of CDK4/6…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D57CC575-CC17-4644-906E-FB3E5C25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38928"/>
            <a:ext cx="11274552" cy="105156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12700">
            <a:solidFill>
              <a:srgbClr val="E8B84B"/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B826874A-1CDA-4E3F-842C-84756E3B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088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7A5200"/>
                </a:solidFill>
                <a:latin typeface="Calibri"/>
                <a:ea typeface="Calibri"/>
                <a:cs typeface="Calibri"/>
              </a:rPr>
              <a:t>No head-to-head randomized trial is available. Cross-trial and real-world comparisons require explicit population, design and evidence limitations; do not imply superiority.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A5678C19-5CF5-4D30-8D33-D2A4DBAD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2ED2547F-6A74-4863-AA32-229135AE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15 of 18</a:t>
            </a:r>
          </a:p>
        </p:txBody>
      </p:sp>
    </p:spTree>
    <p:extLst>
      <p:ext uri="{BB962C8B-B14F-4D97-AF65-F5344CB8AC3E}">
        <p14:creationId xmlns:p14="http://schemas.microsoft.com/office/powerpoint/2010/main" val="11432244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95094B5-31AB-4B25-8559-96427D84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E12CBE-29F3-473F-AA66-18B4CA12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B80851D-FBDC-452F-B064-76BCA449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Unmet Needs, Resistance and Adjuvant Evidence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B371F28-277E-4BAF-9652-DABD856E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Clarify boundaries of approved use and highlight open scientific questions for appropriate…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A4E934F-9CB5-4A33-A118-FEACF9EF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3605784" cy="2011680"/>
          </a:xfrm>
          <a:prstGeom xmlns:a="http://schemas.openxmlformats.org/drawingml/2006/main" prst="roundRect">
            <a:avLst>
              <a:gd name="adj" fmla="val 318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551CD39-D9C5-4FA6-8230-A4DAF968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PALLAS adjuvant (early breast cancer) trial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C1D2A8-7DC0-461E-B73F-FC7CC414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865376"/>
            <a:ext cx="32766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PALLAS adjuvant (early breast cancer) trial did NOT demonstrate an invasive disease-free survival benefit – adjuvant use is NOT an FDA-approved indication for palbociclib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Approximately 25% of patients with HR+/HER2- metastatic disease do not respond to CDK4/6i + endocrine therapy (intrinsic resistance); responders eventually progress (acquired resistance)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Any inbound questions about adjuvant use or biomarker-driven selection should be treated as off-label/unresolved-science and escalated per SOP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D698074-4789-451E-8F6B-ECE896E8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584" y="1463040"/>
            <a:ext cx="3605784" cy="2011680"/>
          </a:xfrm>
          <a:prstGeom xmlns:a="http://schemas.openxmlformats.org/drawingml/2006/main" prst="roundRect">
            <a:avLst>
              <a:gd name="adj" fmla="val 318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075610A-3056-40C6-AE4C-2538FAAF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157276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PALLAS showed high early discontinuation (45.1%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886EF1-0E0C-46DB-9E7E-6D3AB6F2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1865376"/>
            <a:ext cx="32766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PALLAS showed high early discontinuation (45.1% by 2 years), mainly due to neutropenia (59.7% of discontinuations) and fatigue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No validated, clinically actionable predictive biomarker exists to select patients likely to benefit – an acknowledged research gap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8B70F88-8459-467B-A99A-304654EE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968" y="1463040"/>
            <a:ext cx="3605784" cy="2011680"/>
          </a:xfrm>
          <a:prstGeom xmlns:a="http://schemas.openxmlformats.org/drawingml/2006/main" prst="roundRect">
            <a:avLst>
              <a:gd name="adj" fmla="val 318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31575B-CBF1-4026-9036-467467DC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57276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Sources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1EA91EB-C9C1-45D0-996D-287EBB89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865376"/>
            <a:ext cx="32766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[1] Efficacy of Limited Dose Modifications for Palbociclib-Related Grade 3 Neutropenia in… — PMC article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[2] Treatment Exposure and Discontinuation in the PALLAS Study of Palbociclib With Adjuvant… — PMC article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[3] Longitudinal multi-omics study of palbociclib resistance in HR-positive/HER2-negative… — PMC article, Background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4226F76-C32A-4965-999F-8D8CAF6D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3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734DDA1-A173-4603-B1D4-ADEE878D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3360"/>
            <a:ext cx="2084832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43E44EE-A0F3-4E36-B12D-F098E124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23360"/>
            <a:ext cx="1938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F728289-CCC8-4933-BFEE-EB1CF318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4434840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6CF05D7-3A0C-43D5-87EF-417BFF21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4023360"/>
            <a:ext cx="2084832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F2794ED-EC89-4B82-AA16-FA3AAD75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4023360"/>
            <a:ext cx="1938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80C38B3-D441-4C67-8CAC-9C872805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4434840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3757455-8EF6-443B-9321-321A16FE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4023360"/>
            <a:ext cx="2084832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34C47E9-7790-4659-9CBF-2A94F8D1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23360"/>
            <a:ext cx="1938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53DD5E6-FCF2-4DCF-92F2-E99570E7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434840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0DA790-5B39-4192-9A16-9C64C8A3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023360"/>
            <a:ext cx="2084832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443613F-EE55-48EB-B7D0-62656905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4023360"/>
            <a:ext cx="1938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35C1B83-7865-4791-9D7D-B801C151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4434840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6DB4E4F-15E8-400C-B893-CFFD8508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4023360"/>
            <a:ext cx="2084832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6692C0D-A3F3-4F01-879D-65D10B82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4023360"/>
            <a:ext cx="1938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668CFDA-DF55-438D-8955-72FEF6B5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0640"/>
            <a:ext cx="112471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0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0DBE901-6281-4D35-A75B-60E83662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9ECBDB6-E75C-41BB-9A17-7ADD79BD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16 of 18</a:t>
            </a:r>
          </a:p>
        </p:txBody>
      </p:sp>
    </p:spTree>
    <p:extLst>
      <p:ext uri="{BB962C8B-B14F-4D97-AF65-F5344CB8AC3E}">
        <p14:creationId xmlns:p14="http://schemas.microsoft.com/office/powerpoint/2010/main" val="15405859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D3CC50B-26EB-4E55-8853-7997B459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A47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BFBE81-F16C-4BF9-B3F0-DE8B6BD9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84B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E857251-211A-41B7-A615-E096B9A9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17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13CAA29-1DA1-4C88-9D31-ABC4FB2C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MSL Scientific Exchange: Off-Label Questions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01E3019-9A63-421C-8026-1E01CBB0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Provide clear behavioral guidance and escalation cues consistent with compliant,…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AD47CDF-1712-422B-82BF-CCE7778E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522976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4496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4F556A4-5C03-4B12-A519-399CE5C0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On-label discussion should be limited to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F970DAD-D517-4069-AB37-E3430F0C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865376"/>
            <a:ext cx="5193792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7DBEE"/>
                </a:solidFill>
                <a:latin typeface="Calibri"/>
                <a:ea typeface="Calibri"/>
                <a:cs typeface="Calibri"/>
              </a:rPr>
              <a:t>• On-label discussion should be limited to the current FDA-approved indications (AI or fulvestrant combination; inavolisib+fulvestrant for PIK3CA-mutated disease; HER2+ maintenance combination) as reflected in current Prescribing Information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7DBEE"/>
                </a:solidFill>
                <a:latin typeface="Calibri"/>
                <a:ea typeface="Calibri"/>
                <a:cs typeface="Calibri"/>
              </a:rPr>
              <a:t>• Always clarify which combination regimen and trial population a data point applies to – do not extrapolate AE rates or efficacy across different combination partners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B9EAF73-4D6E-4610-922A-EFB4538B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463040"/>
            <a:ext cx="5522976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4496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94DCE77-CDE2-4219-B26B-6F59A416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7276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Unsolicited questions about off-label use (e.g.,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12B2114-DA34-4F68-86E5-C009CF8E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865376"/>
            <a:ext cx="5193792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7DBEE"/>
                </a:solidFill>
                <a:latin typeface="Calibri"/>
                <a:ea typeface="Calibri"/>
                <a:cs typeface="Calibri"/>
              </a:rPr>
              <a:t>• Unsolicited questions about off-label use (e.g., adjuvant setting, comparative superiority over ribociclib/abemaciclib, biomarker-based selection) should be answered factually and non-promotionally, or routed to Medical Information per company SOP if outside…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52496D-02C3-4483-B954-8A66E3C5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1820"/>
            <a:ext cx="5522976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4496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AAD7D98-3904-412E-9E4A-57898686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4154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Escalate immediately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7197C1-5C30-4C19-8B9E-C14E4F36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534156"/>
            <a:ext cx="5193792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7DBEE"/>
                </a:solidFill>
                <a:latin typeface="Calibri"/>
                <a:ea typeface="Calibri"/>
                <a:cs typeface="Calibri"/>
              </a:rPr>
              <a:t>• Escalate immediately: reports of adverse events, product complaints, or safety signals not described in the label, and any request for promotional-style off-label materials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7633533-D9F4-4AFD-9A4F-B56DC865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3131820"/>
            <a:ext cx="5522976" cy="14401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4496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9E5984E-3AF0-41D0-B6C3-EFB796D1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24154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General regulatory-framework statements on off-label communication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1C221FA-6382-4CAC-A1CF-FF756998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534156"/>
            <a:ext cx="5193792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7DBEE"/>
                </a:solidFill>
                <a:latin typeface="Calibri"/>
                <a:ea typeface="Calibri"/>
                <a:cs typeface="Calibri"/>
              </a:rPr>
              <a:t>• General regulatory-framework statements on off-label communication (fair balance, unsolicited request handling) were not independently verified against primary FDA guidance in the source dossier and should be confirmed against current company policy before…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A22107B-6DF0-4083-87F4-1023E846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1274552" cy="123444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E8B84B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963D55-DB46-48ED-B224-9AE1A6FE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00600"/>
            <a:ext cx="1060704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[1] Label: IBRANCE- palbociclib tablet, film coated - DailyMed - NIH — Highlights of Prescribing Information, Indications and Usage (1)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BE01A8D-42AA-48E3-91DE-5B19A3A8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47747F6-B1E8-4227-AB97-E46F7CEB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17 of 18</a:t>
            </a:r>
          </a:p>
        </p:txBody>
      </p:sp>
    </p:spTree>
    <p:extLst>
      <p:ext uri="{BB962C8B-B14F-4D97-AF65-F5344CB8AC3E}">
        <p14:creationId xmlns:p14="http://schemas.microsoft.com/office/powerpoint/2010/main" val="7939102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90A19A-367C-4753-AAF2-25DDBDEA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41A47"/>
                </a:solidFill>
                <a:latin typeface="Cambria"/>
                <a:ea typeface="Cambria"/>
                <a:cs typeface="Cambria"/>
              </a:rPr>
              <a:t>Key Takeaways and Recap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9BF62A-5B64-44E5-BCFB-87D2164F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Consolidate the core scientific narrative for retention and consistent field messaging.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A6552FC-1721-4679-A3E2-C581B108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2647188" cy="2103120"/>
          </a:xfrm>
          <a:prstGeom xmlns:a="http://schemas.openxmlformats.org/drawingml/2006/main" prst="roundRect">
            <a:avLst>
              <a:gd name="adj" fmla="val 304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3D3C469-6A1B-4F4D-AA11-7F622CBC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6420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Palbociclib blocks CDK4/6-mediated Rb phosphorylation, arresting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1FA7E5-F734-45F2-8727-EEFFAB9F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56816"/>
            <a:ext cx="2318004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Palbociclib blocks CDK4/6-mediated Rb phosphorylation, arresting ER+ tumor cells in G1; rationale is synergy with endocrine therapy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Class comparisons and newer indications (inavolisib, HER2+ maintenance) rely on indirect evidence or recent approvals – verify current PI and avoid unsupported superiority claims in scientific exchange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6A8BC0E-C763-42DB-86A4-35E82C31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1554480"/>
            <a:ext cx="2647188" cy="2103120"/>
          </a:xfrm>
          <a:prstGeom xmlns:a="http://schemas.openxmlformats.org/drawingml/2006/main" prst="roundRect">
            <a:avLst>
              <a:gd name="adj" fmla="val 304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0435321-3DC9-4BF6-8B72-1D12082F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580" y="166420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PALOMA-1/2/3 consistently show large, statistically significant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24426DE-6766-4BB8-AA57-98ACFED7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580" y="1956816"/>
            <a:ext cx="2318004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PALOMA-1/2/3 consistently show large, statistically significant PFS benefit when palbociclib is added to endocrine therapy (HR range ~0.46-0.61)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C0E98CD-9166-475D-ADE9-A93ECA20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554480"/>
            <a:ext cx="2647188" cy="2103120"/>
          </a:xfrm>
          <a:prstGeom xmlns:a="http://schemas.openxmlformats.org/drawingml/2006/main" prst="roundRect">
            <a:avLst>
              <a:gd name="adj" fmla="val 304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717E86E-E0F6-41B3-A1A7-3B206EAC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66420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Overall survival benefit is NOT consistently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6FF9130-E85E-444A-9C38-C4C411D3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956816"/>
            <a:ext cx="2318004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Overall survival benefit is NOT consistently statistically significant: PALOMA-2 (first-line) final OS was non-significant; PALOMA-3 reached significance only in a later exploratory analysis – always distinguish primary vs. exploratory endpoints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FA57689-B607-4A82-845A-074375B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564" y="1554480"/>
            <a:ext cx="2647188" cy="2103120"/>
          </a:xfrm>
          <a:prstGeom xmlns:a="http://schemas.openxmlformats.org/drawingml/2006/main" prst="roundRect">
            <a:avLst>
              <a:gd name="adj" fmla="val 304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9525">
            <a:solidFill>
              <a:srgbClr val="E2E6F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EB29B86-6986-4B87-8D04-F2706FE2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156" y="1664208"/>
            <a:ext cx="23180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1A47"/>
                </a:solidFill>
                <a:latin typeface="Calibri"/>
                <a:ea typeface="Calibri"/>
                <a:cs typeface="Calibri"/>
              </a:rPr>
              <a:t>Safety is dominated by reversible, non-cumulative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6EAF1FC-F729-451A-A1F9-16944763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156" y="1956816"/>
            <a:ext cx="2318004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>• Safety is dominated by reversible, non-cumulative neutropenia managed with CBC monitoring and dose modification; ILD/pneumonitis and embryo-fetal toxicity are rarer but serious risks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3E36D23-C21D-40B8-A936-6184844A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192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449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D6795CE-6E0A-4AD4-A42D-C2E0069E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11274552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DBDB625-2776-4D20-B247-0656EA45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54880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Sources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26B601E-0F31-4023-95D0-5217E467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20640"/>
            <a:ext cx="10607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[1] Palbociclib and Letrozole in Advanced Breast Cancer | NEJM — Results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[2] Overall Survival with Palbociclib and Fulvestrant in Women with HR+/HER2− ABC: Updated… — Abstract/Results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[3] Label: IBRANCE- palbociclib capsule - DailyMed - NIH — Warnings and Precautions - Neutropenia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B3678A5-9759-45CD-9528-52E84B97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MSL INTERNAL TRAINING  |  CONFIDENTIAL — FOR FIELD MEDICAL USE ONLY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CB8251E-F280-4757-9C64-7795945E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18 of 18</a:t>
            </a:r>
          </a:p>
        </p:txBody>
      </p:sp>
    </p:spTree>
    <p:extLst>
      <p:ext uri="{BB962C8B-B14F-4D97-AF65-F5344CB8AC3E}">
        <p14:creationId xmlns:p14="http://schemas.microsoft.com/office/powerpoint/2010/main" val="13781305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2026-07-15T08:31:37.5020000Z</dcterms:created>
  <dcterms:modified xsi:type="dcterms:W3CDTF">2026-07-15T08:31:37.5020000Z</dcterms:modified>
</coreProperties>
</file>