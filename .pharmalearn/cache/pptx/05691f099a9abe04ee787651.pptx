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6c552613e94bc4" /><Relationship Type="http://schemas.openxmlformats.org/officeDocument/2006/relationships/extended-properties" Target="/docProps/app.xml" Id="Rca7c6b97cfa2452c" /><Relationship Type="http://schemas.openxmlformats.org/officeDocument/2006/relationships/officeDocument" Target="/ppt/presentation.xml" Id="R2ec1a65e039f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a71e4a5a140ea"/>
  </p:sldMasterIdLst>
  <p:notesMasterIdLst>
    <p:notesMasterId xmlns:r="http://schemas.openxmlformats.org/officeDocument/2006/relationships" r:id="R94410c9344ff4a8a"/>
  </p:notesMasterIdLst>
  <p:sldIdLst>
    <p:sldId xmlns:r="http://schemas.openxmlformats.org/officeDocument/2006/relationships" id="256" r:id="R1ee0c4f9be2e488c"/>
    <p:sldId xmlns:r="http://schemas.openxmlformats.org/officeDocument/2006/relationships" id="257" r:id="R4b79e6f8279044c1"/>
    <p:sldId xmlns:r="http://schemas.openxmlformats.org/officeDocument/2006/relationships" id="258" r:id="R6ad3a071802f4fc9"/>
    <p:sldId xmlns:r="http://schemas.openxmlformats.org/officeDocument/2006/relationships" id="259" r:id="Rf545888b26e34c39"/>
    <p:sldId xmlns:r="http://schemas.openxmlformats.org/officeDocument/2006/relationships" id="260" r:id="R7022924141624ca9"/>
    <p:sldId xmlns:r="http://schemas.openxmlformats.org/officeDocument/2006/relationships" id="261" r:id="Rb8bb7249ea954870"/>
    <p:sldId xmlns:r="http://schemas.openxmlformats.org/officeDocument/2006/relationships" id="262" r:id="Reaa29ce496054d70"/>
    <p:sldId xmlns:r="http://schemas.openxmlformats.org/officeDocument/2006/relationships" id="263" r:id="R585fdc9a9ba44dcc"/>
    <p:sldId xmlns:r="http://schemas.openxmlformats.org/officeDocument/2006/relationships" id="264" r:id="Re18ec28e19b3473f"/>
    <p:sldId xmlns:r="http://schemas.openxmlformats.org/officeDocument/2006/relationships" id="265" r:id="Rd7582cddf30e47bf"/>
    <p:sldId xmlns:r="http://schemas.openxmlformats.org/officeDocument/2006/relationships" id="266" r:id="Rd66f8113bd064813"/>
    <p:sldId xmlns:r="http://schemas.openxmlformats.org/officeDocument/2006/relationships" id="267" r:id="R28bfdc6d969b4b22"/>
    <p:sldId xmlns:r="http://schemas.openxmlformats.org/officeDocument/2006/relationships" id="268" r:id="Rff28d624f3694ebd"/>
    <p:sldId xmlns:r="http://schemas.openxmlformats.org/officeDocument/2006/relationships" id="269" r:id="Rb26accf0ff934e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ddb4b038e94c0c" /><Relationship Type="http://schemas.openxmlformats.org/officeDocument/2006/relationships/slideMaster" Target="/ppt/slideMasters/slideMaster1.xml" Id="R7c5a71e4a5a140ea" /><Relationship Type="http://schemas.openxmlformats.org/officeDocument/2006/relationships/notesMaster" Target="/ppt/notesMasters/notesMaster1.xml" Id="R94410c9344ff4a8a" /><Relationship Type="http://schemas.openxmlformats.org/officeDocument/2006/relationships/presProps" Target="/ppt/presProps.xml" Id="Rfc31f21c14544be9" /><Relationship Type="http://schemas.openxmlformats.org/officeDocument/2006/relationships/viewProps" Target="/ppt/viewProps.xml" Id="Rb29c4196b459432e" /><Relationship Type="http://schemas.openxmlformats.org/officeDocument/2006/relationships/tableStyles" Target="/ppt/tableStyles.xml" Id="R2c60c38829c841a9" /><Relationship Type="http://schemas.openxmlformats.org/officeDocument/2006/relationships/slide" Target="/ppt/slides/slide1.xml" Id="R1ee0c4f9be2e488c" /><Relationship Type="http://schemas.openxmlformats.org/officeDocument/2006/relationships/slide" Target="/ppt/slides/slide2.xml" Id="R4b79e6f8279044c1" /><Relationship Type="http://schemas.openxmlformats.org/officeDocument/2006/relationships/slide" Target="/ppt/slides/slide3.xml" Id="R6ad3a071802f4fc9" /><Relationship Type="http://schemas.openxmlformats.org/officeDocument/2006/relationships/slide" Target="/ppt/slides/slide4.xml" Id="Rf545888b26e34c39" /><Relationship Type="http://schemas.openxmlformats.org/officeDocument/2006/relationships/slide" Target="/ppt/slides/slide5.xml" Id="R7022924141624ca9" /><Relationship Type="http://schemas.openxmlformats.org/officeDocument/2006/relationships/slide" Target="/ppt/slides/slide6.xml" Id="Rb8bb7249ea954870" /><Relationship Type="http://schemas.openxmlformats.org/officeDocument/2006/relationships/slide" Target="/ppt/slides/slide7.xml" Id="Reaa29ce496054d70" /><Relationship Type="http://schemas.openxmlformats.org/officeDocument/2006/relationships/slide" Target="/ppt/slides/slide8.xml" Id="R585fdc9a9ba44dcc" /><Relationship Type="http://schemas.openxmlformats.org/officeDocument/2006/relationships/slide" Target="/ppt/slides/slide9.xml" Id="Re18ec28e19b3473f" /><Relationship Type="http://schemas.openxmlformats.org/officeDocument/2006/relationships/slide" Target="/ppt/slides/slide10.xml" Id="Rd7582cddf30e47bf" /><Relationship Type="http://schemas.openxmlformats.org/officeDocument/2006/relationships/slide" Target="/ppt/slides/slide11.xml" Id="Rd66f8113bd064813" /><Relationship Type="http://schemas.openxmlformats.org/officeDocument/2006/relationships/slide" Target="/ppt/slides/slide12.xml" Id="R28bfdc6d969b4b22" /><Relationship Type="http://schemas.openxmlformats.org/officeDocument/2006/relationships/slide" Target="/ppt/slides/slide13.xml" Id="Rff28d624f3694ebd" /><Relationship Type="http://schemas.openxmlformats.org/officeDocument/2006/relationships/slide" Target="/ppt/slides/slide14.xml" Id="Rb26accf0ff93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5790cb79c1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9852617fb84f4b" /><Relationship Type="http://schemas.openxmlformats.org/officeDocument/2006/relationships/notesMaster" Target="/ppt/notesMasters/notesMaster1.xml" Id="Rab6cfdbc551940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95963717474315" /><Relationship Type="http://schemas.openxmlformats.org/officeDocument/2006/relationships/notesMaster" Target="/ppt/notesMasters/notesMaster1.xml" Id="R037f1a58418e49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21ccfd60cc4691" /><Relationship Type="http://schemas.openxmlformats.org/officeDocument/2006/relationships/notesMaster" Target="/ppt/notesMasters/notesMaster1.xml" Id="R2897dd6ede014b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7400f83d214193" /><Relationship Type="http://schemas.openxmlformats.org/officeDocument/2006/relationships/notesMaster" Target="/ppt/notesMasters/notesMaster1.xml" Id="Re0f45149b21f48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fd68270d3456b" /><Relationship Type="http://schemas.openxmlformats.org/officeDocument/2006/relationships/notesMaster" Target="/ppt/notesMasters/notesMaster1.xml" Id="R47ce86f279d0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a7016121b42d6" /><Relationship Type="http://schemas.openxmlformats.org/officeDocument/2006/relationships/notesMaster" Target="/ppt/notesMasters/notesMaster1.xml" Id="R89351420566844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01f37e15c476d" /><Relationship Type="http://schemas.openxmlformats.org/officeDocument/2006/relationships/notesMaster" Target="/ppt/notesMasters/notesMaster1.xml" Id="R3f08597b56f8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ff703211648ba" /><Relationship Type="http://schemas.openxmlformats.org/officeDocument/2006/relationships/notesMaster" Target="/ppt/notesMasters/notesMaster1.xml" Id="Rcec1577674a14b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b85ab9f576466c" /><Relationship Type="http://schemas.openxmlformats.org/officeDocument/2006/relationships/notesMaster" Target="/ppt/notesMasters/notesMaster1.xml" Id="R4d453170d6a144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2e7f72a42c45c4" /><Relationship Type="http://schemas.openxmlformats.org/officeDocument/2006/relationships/notesMaster" Target="/ppt/notesMasters/notesMaster1.xml" Id="Rd55d1a58d0b642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265cf84666469b" /><Relationship Type="http://schemas.openxmlformats.org/officeDocument/2006/relationships/notesMaster" Target="/ppt/notesMasters/notesMaster1.xml" Id="Rf8030a1d711344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293d0026134300" /><Relationship Type="http://schemas.openxmlformats.org/officeDocument/2006/relationships/notesMaster" Target="/ppt/notesMasters/notesMaster1.xml" Id="R97ef6bbe274847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9021b951124ce5" /><Relationship Type="http://schemas.openxmlformats.org/officeDocument/2006/relationships/notesMaster" Target="/ppt/notesMasters/notesMaster1.xml" Id="Rdf40505441eb46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5c02d8484543b6" /><Relationship Type="http://schemas.openxmlformats.org/officeDocument/2006/relationships/notesMaster" Target="/ppt/notesMasters/notesMaster1.xml" Id="Re1d2797fe156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Systemic therapy for hormone receptor‐positive/HER2‐negative early stage and metastatic breast cancer - Huppert et al., CA: A Cancer Journal for Clinicians</a:t>
            </a:r>
          </a:p>
          <a:p xmlns:a="http://schemas.openxmlformats.org/drawingml/2006/main">
            <a:r>
              <a:t>Huppert 2023, CA Cancer J Clin</a:t>
            </a:r>
          </a:p>
          <a:p xmlns:a="http://schemas.openxmlformats.org/drawingml/2006/main">
            <a:r>
              <a:t>https://acsjournals.onlinelibrary.wiley.com/doi/full/10.3322/caac.21777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The dilemma of selecting a first line CDK4/6 inhibitor for hormone receptor-positive/HER2-negative metastatic breast cancer - PMC</a:t>
            </a:r>
          </a:p>
          <a:p xmlns:a="http://schemas.openxmlformats.org/drawingml/2006/main">
            <a:r>
              <a:t>PMC10033931 (npj Breast Cancer, 2023)</a:t>
            </a:r>
          </a:p>
          <a:p xmlns:a="http://schemas.openxmlformats.org/drawingml/2006/main">
            <a:r>
              <a:t>https://www.ncbi.nlm.nih.gov/pmc/articles/PMC10033931/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A Nurse's Overview of First-Line Treatment for HR+ Metastatic Breast Cancer</a:t>
            </a:r>
          </a:p>
          <a:p xmlns:a="http://schemas.openxmlformats.org/drawingml/2006/main">
            <a:r>
              <a:t>OncNursingNews, Sept 2025</a:t>
            </a:r>
          </a:p>
          <a:p xmlns:a="http://schemas.openxmlformats.org/drawingml/2006/main">
            <a:r>
              <a:t>https://www.oncnursingnews.com/view/a-nurse-s-overview-of-first-line-treatment-for-hr-metastatic-breast-cancer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tablet, film coated - DailyMed</a:t>
            </a:r>
          </a:p>
          <a:p xmlns:a="http://schemas.openxmlformats.org/drawingml/2006/main">
            <a:r>
              <a:t>Section 12.1</a:t>
            </a:r>
          </a:p>
          <a:p xmlns:a="http://schemas.openxmlformats.org/drawingml/2006/main">
            <a:r>
              <a:t>https://dailymed.nlm.nih.gov/dailymed/drugInfo.cfm?setid=fecbdd7d-b729-41b5-9872-231b8fe104ce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IBRANCE (palbociclib) capsules, for oral use - FDA label</a:t>
            </a:r>
          </a:p>
          <a:p xmlns:a="http://schemas.openxmlformats.org/drawingml/2006/main">
            <a:r>
              <a:t>Clinical Pharmacology, 12.1 Mechanism of Action</a:t>
            </a:r>
          </a:p>
          <a:p xmlns:a="http://schemas.openxmlformats.org/drawingml/2006/main">
            <a:r>
              <a:t>https://www.accessdata.fda.gov/drugsatfda_docs/label/2015/207103s000lbl.pdf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Highlights of Prescribing Information, Indications and Usage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FDA approves palbociclib with trastuzumab, with or without pertuzumab, and endocrine therapy for the maintenance treatment of HR-positive, HER2-positive metastatic breast cancer | FDA</a:t>
            </a:r>
          </a:p>
          <a:p xmlns:a="http://schemas.openxmlformats.org/drawingml/2006/main">
            <a:r>
              <a:t>Approval summary paragraph</a:t>
            </a:r>
          </a:p>
          <a:p xmlns:a="http://schemas.openxmlformats.org/drawingml/2006/main">
            <a:r>
              <a:t>https://www.fda.gov/drugs/resources-information-approved-drugs/fda-approves-palbociclib-trastuzumab-or-without-pertuzumab-and-endocrine-therapy-maintenance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FDA approves inavolisib with palbociclib and fulvestrant for endocrine-resistant, PIK3CA-mutated, HR-positive, HER2-negative, advanced breast cancer | FDA</a:t>
            </a:r>
          </a:p>
          <a:p xmlns:a="http://schemas.openxmlformats.org/drawingml/2006/main">
            <a:r>
              <a:t>Approval and trial description</a:t>
            </a:r>
          </a:p>
          <a:p xmlns:a="http://schemas.openxmlformats.org/drawingml/2006/main">
            <a:r>
              <a:t>https://www.fda.gov/drugs/resources-information-approved-drugs/fda-approves-inavolisib-palbociclib-and-fulvestrant-endocrine-resistant-pik3ca-mutated-hr-positive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Highlights of Prescribing Information, Indications and Usage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IBRANCE tablets (palbociclib) Clinical Pharmacology - Pfizer Medical</a:t>
            </a:r>
          </a:p>
          <a:p xmlns:a="http://schemas.openxmlformats.org/drawingml/2006/main">
            <a:r>
              <a:t>Section 12.3, Specific Populations</a:t>
            </a:r>
          </a:p>
          <a:p xmlns:a="http://schemas.openxmlformats.org/drawingml/2006/main">
            <a:r>
              <a:t>https://www.pfizermedical.com/patient/ibrance-tablets/clinical-pharmacology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full prescribing information for IBRANCE - Pfizer labeling</a:t>
            </a:r>
          </a:p>
          <a:p xmlns:a="http://schemas.openxmlformats.org/drawingml/2006/main">
            <a:r>
              <a:t>Section 2.2 / 8.6, Hepatic Impairment</a:t>
            </a:r>
          </a:p>
          <a:p xmlns:a="http://schemas.openxmlformats.org/drawingml/2006/main">
            <a:r>
              <a:t>https://labeling.pfizer.com/showlabeling.aspx?id=2191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Highlights, Dosage and Administration (1)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Label: IBRANCE- palbociclib tablet, film coated - DailyMed</a:t>
            </a:r>
          </a:p>
          <a:p xmlns:a="http://schemas.openxmlformats.org/drawingml/2006/main">
            <a:r>
              <a:t>Highlights, Dosage and Administration (1),(2)</a:t>
            </a:r>
          </a:p>
          <a:p xmlns:a="http://schemas.openxmlformats.org/drawingml/2006/main">
            <a:r>
              <a:t>https://dailymed.nlm.nih.gov/dailymed/drugInfo.cfm?setid=89a142d5-7e61-48bf-9e77-e2cd124c4792&amp;audience=consumer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IBRANCE® (palbociclib) capsules, for oral use</a:t>
            </a:r>
          </a:p>
          <a:p xmlns:a="http://schemas.openxmlformats.org/drawingml/2006/main">
            <a:r>
              <a:t>Patient Counseling Information section</a:t>
            </a:r>
          </a:p>
          <a:p xmlns:a="http://schemas.openxmlformats.org/drawingml/2006/main">
            <a:r>
              <a:t>https://www.accessdata.fda.gov/drugsatfda_docs/label/2025/207103s021,212436s009lbl.pdf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full prescribing information for IBRANCE - Pfizer labeling</a:t>
            </a:r>
          </a:p>
          <a:p xmlns:a="http://schemas.openxmlformats.org/drawingml/2006/main">
            <a:r>
              <a:t>Section 2.2 / 8.6, Hepatic Impairment</a:t>
            </a:r>
          </a:p>
          <a:p xmlns:a="http://schemas.openxmlformats.org/drawingml/2006/main">
            <a:r>
              <a:t>https://labeling.pfizer.com/showlabeling.aspx?id=2191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Ibrance (Palbociclib Capsules for Oral Administration): Side Effects, Uses, Dosage, Interactions, Warnings</a:t>
            </a:r>
          </a:p>
          <a:p xmlns:a="http://schemas.openxmlformats.org/drawingml/2006/main">
            <a:r>
              <a:t>Drug Interactions / Precautions</a:t>
            </a:r>
          </a:p>
          <a:p xmlns:a="http://schemas.openxmlformats.org/drawingml/2006/main">
            <a:r>
              <a:t>https://www.rxlist.com/ibrance-drug.htm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IBRANCE® (palbociclib) capsules, for oral use</a:t>
            </a:r>
          </a:p>
          <a:p xmlns:a="http://schemas.openxmlformats.org/drawingml/2006/main">
            <a:r>
              <a:t>Table 2 - Dose Modification for Hematologic Toxicities</a:t>
            </a:r>
          </a:p>
          <a:p xmlns:a="http://schemas.openxmlformats.org/drawingml/2006/main">
            <a:r>
              <a:t>https://www.accessdata.fda.gov/drugsatfda_docs/label/2025/207103s021,212436s009lbl.pdf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Palbociclib and Letrozole in Advanced Breast Cancer | NEJM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https://www.nejm.org/doi/full/10.1056/NEJMoa1607303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Pfizer Announces Overall Survival Results from Phase 3 PALOMA-2 Trial of IBRANCE</a:t>
            </a:r>
          </a:p>
          <a:p xmlns:a="http://schemas.openxmlformats.org/drawingml/2006/main">
            <a:r>
              <a:t>Results paragraph</a:t>
            </a:r>
          </a:p>
          <a:p xmlns:a="http://schemas.openxmlformats.org/drawingml/2006/main">
            <a:r>
              <a:t>https://www.pfizer.com/news/press-release/press-release-detail/pfizer-announces-overall-survival-results-phase-3-paloma-2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FDA Approval of Palbociclib in Combination with Fulvestrant for HR+, HER2- Metastatic Breast Cancer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https://aacrjournals.org/clincancerres/article/22/20/4968/124844/FDA-Approval-of-Palbociclib-in-Combination-with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Overall Survival with Palbociclib and Fulvestrant in Women with HR+/HER2− ABC: Updated Exploratory Analyses of PALOMA-3 | PMC</a:t>
            </a:r>
          </a:p>
          <a:p xmlns:a="http://schemas.openxmlformats.org/drawingml/2006/main">
            <a:r>
              <a:t>Abstract/Results</a:t>
            </a:r>
          </a:p>
          <a:p xmlns:a="http://schemas.openxmlformats.org/drawingml/2006/main">
            <a:r>
              <a:t>https://pmc.ncbi.nlm.nih.gov/articles/PMC9662922/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FDA approves inavolisib with palbociclib and fulvestrant for endocrine-resistant, PIK3CA-mutated, HR-positive, HER2-negative, advanced breast cancer | FDA</a:t>
            </a:r>
          </a:p>
          <a:p xmlns:a="http://schemas.openxmlformats.org/drawingml/2006/main">
            <a:r>
              <a:t>Dosing regimen paragraph</a:t>
            </a:r>
          </a:p>
          <a:p xmlns:a="http://schemas.openxmlformats.org/drawingml/2006/main">
            <a:r>
              <a:t>https://www.fda.gov/drugs/resources-information-approved-drugs/fda-approves-inavolisib-palbociclib-and-fulvestrant-endocrine-resistant-pik3ca-mutated-hr-positive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FDA approves palbociclib with trastuzumab, with or without pertuzumab, and endocrine therapy for the maintenance treatment of HR-positive, HER2-positive metastatic breast cancer | FDA</a:t>
            </a:r>
          </a:p>
          <a:p xmlns:a="http://schemas.openxmlformats.org/drawingml/2006/main">
            <a:r>
              <a:t>Efficacy/PATINA description</a:t>
            </a:r>
          </a:p>
          <a:p xmlns:a="http://schemas.openxmlformats.org/drawingml/2006/main">
            <a:r>
              <a:t>https://www.fda.gov/drugs/resources-information-approved-drugs/fda-approves-palbociclib-trastuzumab-or-without-pertuzumab-and-endocrine-therapy-maintenance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FDA Approves Palbociclib for HR+/HER2+ Metastatic Breast Cancer Maintenance</a:t>
            </a:r>
          </a:p>
          <a:p xmlns:a="http://schemas.openxmlformats.org/drawingml/2006/main">
            <a:r>
              <a:t>PFS results paragraph</a:t>
            </a:r>
          </a:p>
          <a:p xmlns:a="http://schemas.openxmlformats.org/drawingml/2006/main">
            <a:r>
              <a:t>https://www.oncnursingnews.com/view/fda-approves-palbociclib-for-hr-her2-metastatic-breast-cancer-maintenance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Warnings and Precautions - Neutropenia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Palbociclib with Letrozole in Postmenopausal Women with ER+/HER2− Advanced Breast Cancer: Hematologic Safety Analysis of the Randomized PALOMA-2 Trial</a:t>
            </a:r>
          </a:p>
          <a:p xmlns:a="http://schemas.openxmlformats.org/drawingml/2006/main">
            <a:r>
              <a:t>Abstract / Results</a:t>
            </a:r>
          </a:p>
          <a:p xmlns:a="http://schemas.openxmlformats.org/drawingml/2006/main">
            <a:r>
              <a:t>https://pmc.ncbi.nlm.nih.gov/articles/PMC6975938/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Pfizer Announces Overall Survival Results from Phase 3 PALOMA-3 Trial of IBRANCE</a:t>
            </a:r>
          </a:p>
          <a:p xmlns:a="http://schemas.openxmlformats.org/drawingml/2006/main">
            <a:r>
              <a:t>Safety information section</a:t>
            </a:r>
          </a:p>
          <a:p xmlns:a="http://schemas.openxmlformats.org/drawingml/2006/main">
            <a:r>
              <a:t>https://www.pfizer.com/news/press-release/press-release-detail/pfizer_announces_overall_survival_results_from_phase_3_paloma_3_trial_of_ibrance_palbociclib_in_hr_her2_metastatic_breast_cancer-0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Warnings and Precautions - ILD/Pneumonitis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full prescribing information for IBRANCE - Pfizer labeling</a:t>
            </a:r>
          </a:p>
          <a:p xmlns:a="http://schemas.openxmlformats.org/drawingml/2006/main">
            <a:r>
              <a:t>Use in Specific Populations (8.1, 8.2, 8.3)</a:t>
            </a:r>
          </a:p>
          <a:p xmlns:a="http://schemas.openxmlformats.org/drawingml/2006/main">
            <a:r>
              <a:t>https://labeling.pfizer.com/showlabeling.aspx?id=2191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Palbociclib Highlights of Prescribing Information (via ClinicalTrials.gov protocol appendix)</a:t>
            </a:r>
          </a:p>
          <a:p xmlns:a="http://schemas.openxmlformats.org/drawingml/2006/main">
            <a:r>
              <a:t>CONTRAINDICATIONS section</a:t>
            </a:r>
          </a:p>
          <a:p xmlns:a="http://schemas.openxmlformats.org/drawingml/2006/main">
            <a:r>
              <a:t>https://cdn.clinicaltrials.gov/large-docs/72/NCT03774472/Prot_SAP_000.pdf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Taking IBRANCE® for mBC | IBRANCE® (palbociclib)| Safety Info</a:t>
            </a:r>
          </a:p>
          <a:p xmlns:a="http://schemas.openxmlformats.org/drawingml/2006/main">
            <a:r>
              <a:t>ibrance.com/taking-ibrance</a:t>
            </a:r>
          </a:p>
          <a:p xmlns:a="http://schemas.openxmlformats.org/drawingml/2006/main">
            <a:r>
              <a:t>https://www.ibrance.com/taking-ibrance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Label: IBRANCE- palbociclib tablet, film coated - DailyMed</a:t>
            </a:r>
          </a:p>
          <a:p xmlns:a="http://schemas.openxmlformats.org/drawingml/2006/main">
            <a:r>
              <a:t>Patient Counseling Information</a:t>
            </a:r>
          </a:p>
          <a:p xmlns:a="http://schemas.openxmlformats.org/drawingml/2006/main">
            <a:r>
              <a:t>https://dailymed.nlm.nih.gov/dailymed/lookup.cfm?setid=89a142d5-7e61-48bf-9e77-e2cd124c4792&amp;version=10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Label: IBRANCE- palbociclib capsule - DailyMed</a:t>
            </a:r>
          </a:p>
          <a:p xmlns:a="http://schemas.openxmlformats.org/drawingml/2006/main">
            <a:r>
              <a:t>Use in Specific Populations, Lactation (8.2)</a:t>
            </a:r>
          </a:p>
          <a:p xmlns:a="http://schemas.openxmlformats.org/drawingml/2006/main">
            <a:r>
              <a:t>https://dailymed.nlm.nih.gov/dailymed/lookup.cfm?setid=e0e6412f-50b4-4fd4-9364-62818d121a07&amp;version=23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Label: IBRANCE- palbociclib capsule - DailyMed - NIH</a:t>
            </a:r>
          </a:p>
          <a:p xmlns:a="http://schemas.openxmlformats.org/drawingml/2006/main">
            <a:r>
              <a:t>Highlights of Prescribing Information, Indications and Usage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Palbociclib and Letrozole in Advanced Breast Cancer | NEJM</a:t>
            </a:r>
          </a:p>
          <a:p xmlns:a="http://schemas.openxmlformats.org/drawingml/2006/main">
            <a:r>
              <a:t>Results</a:t>
            </a:r>
          </a:p>
          <a:p xmlns:a="http://schemas.openxmlformats.org/drawingml/2006/main">
            <a:r>
              <a:t>https://www.nejm.org/doi/full/10.1056/NEJMoa1607303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Label: IBRANCE- palbociclib capsule - DailyMed - NIH</a:t>
            </a:r>
          </a:p>
          <a:p xmlns:a="http://schemas.openxmlformats.org/drawingml/2006/main">
            <a:r>
              <a:t>Warnings and Precautions - Neutropenia</a:t>
            </a:r>
          </a:p>
          <a:p xmlns:a="http://schemas.openxmlformats.org/drawingml/2006/main">
            <a:r>
              <a:t>https://dailymed.nlm.nih.gov/dailymed/drugInfo.cfm?setid=e0e6412f-50b4-4fd4-9364-62818d121a07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18939b00c4a4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56263d94e4ef2" /><Relationship Type="http://schemas.openxmlformats.org/officeDocument/2006/relationships/slideLayout" Target="/ppt/slideLayouts/slideLayout1.xml" Id="R8e2a8b69df3a4fe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a8b69df3a4fe4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2ee26eb6d46b4" /><Relationship Type="http://schemas.openxmlformats.org/officeDocument/2006/relationships/notesSlide" Target="/ppt/notesSlides/notesSlide1.xml" Id="R1d93305c3e7740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a93cf800e4281" /><Relationship Type="http://schemas.openxmlformats.org/officeDocument/2006/relationships/notesSlide" Target="/ppt/notesSlides/notesSlide2.xml" Id="R88fdf14c5447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684865e9e40c5" /><Relationship Type="http://schemas.openxmlformats.org/officeDocument/2006/relationships/notesSlide" Target="/ppt/notesSlides/notesSlide3.xml" Id="R8ea698f3c0ce44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8600e7e6f456c" /><Relationship Type="http://schemas.openxmlformats.org/officeDocument/2006/relationships/notesSlide" Target="/ppt/notesSlides/notesSlide4.xml" Id="Rd20e07fe57e847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fd029d7854e5d" /><Relationship Type="http://schemas.openxmlformats.org/officeDocument/2006/relationships/notesSlide" Target="/ppt/notesSlides/notesSlide5.xml" Id="Rf4e50b85a6e34b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c0ba137d9485e" /><Relationship Type="http://schemas.openxmlformats.org/officeDocument/2006/relationships/notesSlide" Target="/ppt/notesSlides/notesSlide6.xml" Id="R7b87b2c83bae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ac5190a254e25" /><Relationship Type="http://schemas.openxmlformats.org/officeDocument/2006/relationships/notesSlide" Target="/ppt/notesSlides/notesSlide7.xml" Id="R5e622e9313444f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0b4e4e3e64866" /><Relationship Type="http://schemas.openxmlformats.org/officeDocument/2006/relationships/notesSlide" Target="/ppt/notesSlides/notesSlide8.xml" Id="R1335cba77766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ef25bf5374b42" /><Relationship Type="http://schemas.openxmlformats.org/officeDocument/2006/relationships/notesSlide" Target="/ppt/notesSlides/notesSlide9.xml" Id="R389ba01400e040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f72ed069a4003" /><Relationship Type="http://schemas.openxmlformats.org/officeDocument/2006/relationships/notesSlide" Target="/ppt/notesSlides/notesSlide10.xml" Id="R6885f93268f34f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b9ccc54643d7" /><Relationship Type="http://schemas.openxmlformats.org/officeDocument/2006/relationships/notesSlide" Target="/ppt/notesSlides/notesSlide11.xml" Id="R6942326bd05c46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c61894e194b46" /><Relationship Type="http://schemas.openxmlformats.org/officeDocument/2006/relationships/notesSlide" Target="/ppt/notesSlides/notesSlide12.xml" Id="Rb3b3a06a6bd54f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60c17459c4b1e" /><Relationship Type="http://schemas.openxmlformats.org/officeDocument/2006/relationships/notesSlide" Target="/ppt/notesSlides/notesSlide13.xml" Id="Re5092d3feea143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ef1c55e1a4e76" /><Relationship Type="http://schemas.openxmlformats.org/officeDocument/2006/relationships/notesSlide" Target="/ppt/notesSlides/notesSlide14.xml" Id="R54f536560504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5A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5017D4-C49B-4B3F-9AC8-7F936F90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5A66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C029CF-D669-4B9D-BB2C-151F684F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82880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1F451D-49BE-4B75-A2DB-848C0C2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38912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5485D3-1679-46E6-AAAA-F742D354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CLINICAL EDUCATION FOR HEALTHCARE PROFESSIONALS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CE67346-EA58-40BD-B81F-88C0B9B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9601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Ibrance (palbociclib)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5084D22-BA97-472B-A90E-D2771BCC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HCP prescribing guide: patient selection, dosing and safety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076F983-B4E5-4579-BF0F-66761AC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1463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259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9F67F8-F2F6-4A92-A32E-8EB8077F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EDEDB"/>
                </a:solidFill>
                <a:latin typeface="Calibri"/>
                <a:ea typeface="Calibri"/>
                <a:cs typeface="Calibri"/>
              </a:rPr>
              <a:t>Claim-level sources included  |  July 2026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AF087E-EA64-4597-BE87-0BF517E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6364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8FC9C4"/>
                </a:solidFill>
                <a:latin typeface="Calibri"/>
                <a:ea typeface="Calibri"/>
                <a:cs typeface="Calibri"/>
              </a:rPr>
              <a:t>Please see accompanying full Prescribing Information, including Boxed Warning if applicable.</a:t>
            </a:r>
          </a:p>
        </p:txBody>
      </p:sp>
    </p:spTree>
    <p:extLst>
      <p:ext uri="{BB962C8B-B14F-4D97-AF65-F5344CB8AC3E}">
        <p14:creationId xmlns:p14="http://schemas.microsoft.com/office/powerpoint/2010/main" val="1466173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453439-1979-4B6E-876D-E37D26A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471CC9-D7B0-437F-B656-9910F50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2FC253-C381-480D-8969-6558511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Disease Rationale for CDK4/6 Inhibition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37AABF-6C5A-4D0B-B981-EE48053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Establish the biological rationale for combining a CDK4/6 inhibitor with endocrine therapy in…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C9DA1E-99BC-45A3-86A4-3556786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07407E-A633-4FE1-9D79-9690766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HR-positive, HER2-negative breast cancer accounts for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3B2ECB-A63D-43FA-9E4E-66C9727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HR-positive, HER2-negative breast cancer accounts for approximately 65-70% of all breast cancers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Endocrine therapy plus a CDK4/6 inhibitor is described in clinical education literature as the guideline-recommended first-line approach for HR-positive, HER2-negative advanced/metastatic breast cancer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7D485D-40B1-44DE-901C-7E9BDFF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275A21-A820-4617-A804-F23C655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Dysregulated cyclin D-CDK4/6-retinoblastoma (Rb) pathway signaling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BB3001-68F1-4B83-9332-985CBBA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Dysregulated cyclin D-CDK4/6-retinoblastoma (Rb) pathway signaling drives proliferation in this subtype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88B1A8-4900-4E44-94BC-903C45D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4552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AA8F87-7E3E-441B-8257-6F6696F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666E9E-5F94-437D-A6DB-F1FB161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[1] Systemic therapy for hormone receptor‐positive/HER2‐negative early stage and metastatic… — Huppert 2023, CA Cancer J Clin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[2] The dilemma of selecting a first line CDK4/6 inhibitor for hormone… — PMC10033931 (npj Breast Cancer, 2023)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[3] A Nurse's Overview of First-Line Treatment for HR+ Metastatic Breast Cancer — OncNursingNews, Sept 2025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A5C53B-45E2-43E2-BE32-32FDD3D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99C73D-A6B5-4CF4-8EA7-C8261E21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2 of 14</a:t>
            </a:r>
          </a:p>
        </p:txBody>
      </p:sp>
    </p:spTree>
    <p:extLst>
      <p:ext uri="{BB962C8B-B14F-4D97-AF65-F5344CB8AC3E}">
        <p14:creationId xmlns:p14="http://schemas.microsoft.com/office/powerpoint/2010/main" val="700243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D085BE-3A09-440C-ABD1-2E15887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4547DE-78DE-4AC6-9DB3-77E8C90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E9CB50-0508-4A13-9656-0FF5061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Mechanism of Action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E20AF4-8447-4632-AE50-6AA4BA5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Explain how palbociclib works to support clinical rationale for use.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E7F847-2304-4CE7-964D-7F5B53D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3212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A89219C-EE2E-4E86-A400-C09D480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5532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251A6E-618E-463F-A595-1C7B8D49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ADA175F-A241-406D-B221-B780722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B27F31C-861E-4598-93CA-735CCFE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9992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A5C277C-4211-48F2-89E9-EF2FD77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C63DE4-F154-4D31-8406-5B405EAF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682D623-E13E-49BC-B855-246D6B3A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9992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BC642E4-F3DC-4F91-85B8-8791CB0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C1A8EF-A90F-4019-8E8B-AFCCE1F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79B0572-8B65-48CA-917B-86F44018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4983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[1] Label: IBRANCE- palbociclib tablet, film coated - DailyMed — Section 12.1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[2] IBRANCE (palbociclib) capsules, for oral use - FDA label — Clinical Pharmacology, 12.1 Mechanism of Action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F6E53F-D50A-4396-9CE1-850565D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468112" cy="32004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C8705B6-B8F9-4AB3-A4D9-C03CCB8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61848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Palbociclib is a selective, oral, reversible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E379F7-4217-4AE6-9C82-557FB1E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911096"/>
            <a:ext cx="5138928" cy="2697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Palbociclib is a selective, oral, reversible inhibitor of cyclin-dependent kinases 4 and 6 (CDK4/6)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In vitro, palbociclib reduced proliferation of estrogen receptor-positive breast cancer cell lines by blocking progression from G1 into S phase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BBFA803-2499-4DF9-97C5-1D002E9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31720"/>
            <a:ext cx="546811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0D040E-E81E-4773-AC7A-B53848E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759DCFD-C814-43FE-A70D-ED534A2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734056"/>
            <a:ext cx="513892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962C17-C746-492A-843C-E5C28F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468112" cy="132588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D41600D-A30B-4709-889B-00978E7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9300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Cyclin D1 and CDK4/6 lie downstream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87F5B7F-3BB4-4B55-BBA6-4AB9C88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85616"/>
            <a:ext cx="51389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• Cyclin D1 and CDK4/6 lie downstream of proliferative signaling pathways; inhibition blocks retinoblastoma (Rb) protein phosphorylation and arrests cells in G1 phase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• Combining palbociclib with antiestrogens increased growth arrest and cell senescence compared with either agent alone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AFBA77-C89E-4BB4-8E60-4258E658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215AAA2-043C-4C2F-8E58-B893F57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3 of 14</a:t>
            </a:r>
          </a:p>
        </p:txBody>
      </p:sp>
    </p:spTree>
    <p:extLst>
      <p:ext uri="{BB962C8B-B14F-4D97-AF65-F5344CB8AC3E}">
        <p14:creationId xmlns:p14="http://schemas.microsoft.com/office/powerpoint/2010/main" val="1866094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DD085BE-3A09-440C-ABD1-2E15887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4547DE-78DE-4AC6-9DB3-77E8C90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E9CB50-0508-4A13-9656-0FF5061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Current FDA-Approved Indications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E20AF4-8447-4632-AE50-6AA4BA5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Clarify approved combination regimens and patient populations to ensure on-label use.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E7F847-2304-4CE7-964D-7F5B53D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3212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A89219C-EE2E-4E86-A400-C09D480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5532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251A6E-618E-463F-A595-1C7B8D49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ADA175F-A241-406D-B221-B780722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B27F31C-861E-4598-93CA-735CCFE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9992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A5C277C-4211-48F2-89E9-EF2FD77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C63DE4-F154-4D31-8406-5B405EAF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682D623-E13E-49BC-B855-246D6B3A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9992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BC642E4-F3DC-4F91-85B8-8791CB0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6888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C1A8EF-A90F-4019-8E8B-AFCCE1F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8036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79B0572-8B65-48CA-917B-86F44018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4983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[1] Label: IBRANCE- palbociclib capsule - DailyMed - NIH — Highlights of Prescribing Information, Indications and Usage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[2] FDA approves palbociclib with trastuzumab, with or without pertuzumab, and endocrine… — Approval summary paragraph</a:t>
            </a:r>
          </a:p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[3] FDA approves inavolisib with palbociclib and fulvestrant for endocrine-resistant,… — Approval and trial description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F6E53F-D50A-4396-9CE1-850565D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468112" cy="32004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C8705B6-B8F9-4AB3-A4D9-C03CCB8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61848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With an aromatase inhibitor as initial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E379F7-4217-4AE6-9C82-557FB1E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911096"/>
            <a:ext cx="5138928" cy="2697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With an aromatase inhibitor as initial endocrine-based therapy for HR-positive, HER2-negative advanced or metastatic breast cancer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With inavolisib and fulvestrant for endocrine-resistant, PIK3CA-mutated HR-positive, HER2-negative disease (mutation detected by an FDA-approved test), following recurrence on or after adjuvant endocrine therapy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BBFA803-2499-4DF9-97C5-1D002E9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31720"/>
            <a:ext cx="546811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0D040E-E81E-4773-AC7A-B53848E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759DCFD-C814-43FE-A70D-ED534A2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734056"/>
            <a:ext cx="513892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962C17-C746-492A-843C-E5C28F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468112" cy="132588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D41600D-A30B-4709-889B-00978E7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93008"/>
            <a:ext cx="5138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With fulvestrant for HR-positive, HER2-negative advanced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87F5B7F-3BB4-4B55-BBA6-4AB9C88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85616"/>
            <a:ext cx="51389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• With fulvestrant for HR-positive, HER2-negative advanced or metastatic breast cancer following disease progression on endocrine therapy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• With trastuzumab, with or without pertuzumab, and endocrine therapy for maintenance treatment of HR-positive, HER2-positive advanced or metastatic breast cancer following induction treatment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AFBA77-C89E-4BB4-8E60-4258E658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215AAA2-043C-4C2F-8E58-B893F57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4 of 14</a:t>
            </a:r>
          </a:p>
        </p:txBody>
      </p:sp>
    </p:spTree>
    <p:extLst>
      <p:ext uri="{BB962C8B-B14F-4D97-AF65-F5344CB8AC3E}">
        <p14:creationId xmlns:p14="http://schemas.microsoft.com/office/powerpoint/2010/main" val="1866094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0ED03A-A959-4F7F-BBCB-93B1002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C59BA2-B8F3-460F-AA33-55E93126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9A97E0-64ED-4F1E-8347-E6BE800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Patient Selection Considerations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90646F-1DEF-4FB1-AECB-1CFA2A1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Guide appropriate patient identification consistent with the current label.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BD77C3B-385C-4985-A8BB-C37ED7D0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587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E049367-5A59-4819-9A5A-8628C8A7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• Confirm HR-positive status (and HER2-negative or HER2-positive status, as applicable to the intended regimen) using validated biomarker testing before initiating therapy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F1965A9-0442-4028-A8ED-D005274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3C165F-ABEB-4E7C-A083-D3B347E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587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5D7E83-2B0F-425B-B6C8-E0015EAC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• For the inavolisib combination, confirm a PIK3CA mutation using an FDA-approved test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B30C98-C3BB-4968-8D82-47767F3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240280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C34EC2-CBD0-433A-8C4D-40CE7E4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37360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EA7CF7-401F-477B-9CA7-C37C7A9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73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Approved for adult men and women; population pharmacokinetic data show no clinically important effect of age, gender, or body weight on drug exposure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1A0253E-7A1A-4139-8CF2-DBEAD912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240280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D4B46B1-E574-4984-919E-8E003FB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7360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5875">
            <a:solidFill>
              <a:srgbClr val="D9EEE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F2D2002-1908-47A0-BF30-C54EBBE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7373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• No dose adjustment is required for mild or moderate hepatic impairment, or for renal impairment with creatinine clearance greater than 15 mL/min; dose reduction is required for severe hepatic impairment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3845BD0-17AA-490C-AFF0-65C60F3C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5522976" cy="265176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DD3B290-1653-4ABD-843F-73623B1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2186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F0EA0C0-04CE-4767-B13E-E073B771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511296"/>
            <a:ext cx="5193792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[1] Label: IBRANCE- palbociclib capsule - DailyMed - NIH — Highlights of Prescribing Information, Indications and Usage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[2] IBRANCE tablets (palbociclib) Clinical Pharmacology - Pfizer Medical — Section 12.3, Specific Populations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[3] full prescribing information for IBRANCE - Pfizer labeling — Section 2.2 / 8.6, Hepatic Impairment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5AFAF1-F5EA-40A1-9145-AA936C0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108960"/>
            <a:ext cx="5522976" cy="265176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04DC9C-418A-42B1-A3E7-8B16AA0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2186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498ABF3-BC7D-4146-B3BF-694CFDF6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511296"/>
            <a:ext cx="5193792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B9F81EE-BD9D-4813-90D2-54016F2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44D52C0-C625-4BE0-9D35-C5D3154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5 of 14</a:t>
            </a:r>
          </a:p>
        </p:txBody>
      </p:sp>
    </p:spTree>
    <p:extLst>
      <p:ext uri="{BB962C8B-B14F-4D97-AF65-F5344CB8AC3E}">
        <p14:creationId xmlns:p14="http://schemas.microsoft.com/office/powerpoint/2010/main" val="2099611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90677F-41CE-4288-AB8E-BF9E72F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B0553E-0FFD-4D31-A18C-121AFDC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CCF30E-D10B-4A1C-A74B-FD9ECE56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Dosing and Administration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626733-CFAE-4B4B-BDD5-CEAC0BB4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Reinforce correct dosing schedule and administration technique to support adherence and safety.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3CBF99-BABA-4A6A-8E5D-5B60C6AD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2D37A2-89EC-40C5-BD7D-833738B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188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BAB8B0-1EE7-4CB8-AE7E-F3BD85C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188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5CCA69-87A5-48D5-AFCD-5AF9B696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Recommended starting dose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D1AA29-3F80-428F-865D-B0CAAE4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Recommended starting dose: 125 mg orally once daily for 21 consecutive days followed by 7 days off treatment (a complete 28-day cycle)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Encourage patients to take their dose at approximately the same time each day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71FA146-3950-416E-8448-D863AFE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3361A42-82F9-4F1C-B4B8-E677BA29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4848F5-B4D1-4661-9566-4365E177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A22359-73E0-4815-826A-BAE853F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0B9DF2-DCC0-4427-906F-8C922BF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Capsules must be taken with food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52748D5-40EC-4253-B49B-F129423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Capsules must be taken with food; tablets may be taken with or without food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57A8E5B-EABC-4DC0-B2A8-1EE695E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DF5FBFE-F2B5-4DEE-A5D1-3E5AB42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BA28BF3-4D52-42B8-9480-640E68B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5F59D6-8E08-4DE1-8307-8807F7F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663D76D-09A2-4E17-8E39-CB8CCC4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Swallow capsules/tablets whole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EB6651-0C53-4D5C-A977-3675DC47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Swallow capsules/tablets whole; do not chew, crush, open, or split; do not take if broken or cracked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432147-6A42-4353-989A-89BF9C9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2B307B1-4DFD-464E-A3E7-0F2486E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824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A1E8456-107B-4F05-BE29-0F92757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812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FB0B0D-6C3F-4949-82D6-D32E67C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812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0799B7B-4DF1-4FB0-BA7F-9F6B977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If a dose is vomited or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EAF346-E2A9-491B-AA59-A741FE9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If a dose is vomited or missed, do not take an additional dose that day; resume the next scheduled dose at the usual time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0BA9D0A-C05F-4348-8A5D-A0BDDF5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74552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8D31B8-9E6F-4D8E-BF10-9D52F1D0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10607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[1] Label: IBRANCE- palbociclib capsule - DailyMed - NIH — Highlights, Dosage and Administration (1)</a:t>
            </a: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[2] Label: IBRANCE- palbociclib tablet, film coated - DailyMed — Highlights, Dosage and Administration (1),(2)</a:t>
            </a:r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[3] IBRANCE® (palbociclib) capsules, for oral use — Patient Counseling Information section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5B91691-A0D2-4324-A1A3-C489326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384789-831F-41F3-AF07-DE71814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6 of 14</a:t>
            </a:r>
          </a:p>
        </p:txBody>
      </p:sp>
    </p:spTree>
    <p:extLst>
      <p:ext uri="{BB962C8B-B14F-4D97-AF65-F5344CB8AC3E}">
        <p14:creationId xmlns:p14="http://schemas.microsoft.com/office/powerpoint/2010/main" val="752291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90677F-41CE-4288-AB8E-BF9E72F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B0553E-0FFD-4D31-A18C-121AFDC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CCF30E-D10B-4A1C-A74B-FD9ECE56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Dose Modification and Drug Interactions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626733-CFAE-4B4B-BDD5-CEAC0BB4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Support safe co-prescribing and proactive toxicity management.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3CBF99-BABA-4A6A-8E5D-5B60C6AD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2D37A2-89EC-40C5-BD7D-833738B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188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BAB8B0-1EE7-4CB8-AE7E-F3BD85C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188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5CCA69-87A5-48D5-AFCD-5AF9B696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For severe hepatic impairment (Child-Pugh class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D1AA29-3F80-428F-865D-B0CAAE4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For severe hepatic impairment (Child-Pugh class C), reduce the dose to 75 mg once daily on the same 21-days-on/7-days-off schedule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71FA146-3950-416E-8448-D863AFE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3361A42-82F9-4F1C-B4B8-E677BA29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4848F5-B4D1-4661-9566-4365E177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A22359-73E0-4815-826A-BAE853F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0B9DF2-DCC0-4427-906F-8C922BF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Avoid concomitant strong CYP3A inhibitors (e.g.,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52748D5-40EC-4253-B49B-F129423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Avoid concomitant strong CYP3A inhibitors (e.g., clarithromycin, itraconazole, ketoconazole) and strong CYP3A inducers (e.g., rifampin); avoid grapefruit or grapefruit juice during treatment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57A8E5B-EABC-4DC0-B2A8-1EE695E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DF5FBFE-F2B5-4DEE-A5D1-3E5AB42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BA28BF3-4D52-42B8-9480-640E68B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5F59D6-8E08-4DE1-8307-8807F7F8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663D76D-09A2-4E17-8E39-CB8CCC4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Dose interruption, dose reduction, or delay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EB6651-0C53-4D5C-A977-3675DC47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Dose interruption, dose reduction, or delay in starting a treatment cycle is recommended for patients who develop Grade 3 or 4 neutropenia, based on individual safety and tolerability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432147-6A42-4353-989A-89BF9C9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78892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2B307B1-4DFD-464E-A3E7-0F2486E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824" y="1600200"/>
            <a:ext cx="2606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12700">
            <a:solidFill>
              <a:srgbClr val="D9EEEC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A1E8456-107B-4F05-BE29-0F92757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812" y="17830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FB0B0D-6C3F-4949-82D6-D32E67C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812" y="1783080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0799B7B-4DF1-4FB0-BA7F-9F6B977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42316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EAF346-E2A9-491B-AA59-A741FE9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926080"/>
            <a:ext cx="2331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[1] full prescribing information for IBRANCE - Pfizer labeling — Section 2.2 / 8.6, Hepatic Impairment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[2] Ibrance (Palbociclib Capsules for Oral Administration): Side Effects, Uses, Dosage,… — Drug Interactions / Precautions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[3] IBRANCE® (palbociclib) capsules, for oral use — Table 2 - Dose Modification for Hematologic Toxicities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0BA9D0A-C05F-4348-8A5D-A0BDDF5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74552" cy="141732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8D31B8-9E6F-4D8E-BF10-9D52F1D0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10607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5B91691-A0D2-4324-A1A3-C489326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384789-831F-41F3-AF07-DE71814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7 of 14</a:t>
            </a:r>
          </a:p>
        </p:txBody>
      </p:sp>
    </p:spTree>
    <p:extLst>
      <p:ext uri="{BB962C8B-B14F-4D97-AF65-F5344CB8AC3E}">
        <p14:creationId xmlns:p14="http://schemas.microsoft.com/office/powerpoint/2010/main" val="752291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453439-1979-4B6E-876D-E37D26A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471CC9-D7B0-437F-B656-9910F50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2FC253-C381-480D-8969-6558511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Efficacy: First-Line Setting (PALOMA-2)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37AABF-6C5A-4D0B-B981-EE48053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Present primary efficacy evidence supporting the aromatase inhibitor combination.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C9DA1E-99BC-45A3-86A4-3556786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07407E-A633-4FE1-9D79-9690766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Phase 3 PALOMA-2 randomized 666 postmenopausal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3B2ECB-A63D-43FA-9E4E-66C9727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Phase 3 PALOMA-2 randomized 666 postmenopausal women with HR-positive, HER2-negative advanced breast cancer and no prior therapy for advanced disease to palbociclib plus letrozole or placebo plus letrozole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Final overall survival analysis (90-month median follow-up): numerically longer OS (53.9 vs 51.2 months) that was not statistically significant (HR 0.956; 95% CI, 0.777-1.177); OS was a secondary endpoint and the trial was not powered to detect an OS…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7D485D-40B1-44DE-901C-7E9BDFF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275A21-A820-4617-A804-F23C655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Primary endpoint met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BB3001-68F1-4B83-9332-985CBBA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Primary endpoint met: median progression-free survival 24.8 months vs 14.5 months with palbociclib plus letrozole vs placebo plus letrozole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88B1A8-4900-4E44-94BC-903C45D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4552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AA8F87-7E3E-441B-8257-6F6696F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666E9E-5F94-437D-A6DB-F1FB161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[1] Palbociclib and Letrozole in Advanced Breast Cancer | NEJM —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[2] Pfizer Announces Overall Survival Results from Phase 3 PALOMA-2 Trial of IBRANCE — Results paragraph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A5C53B-45E2-43E2-BE32-32FDD3D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99C73D-A6B5-4CF4-8EA7-C8261E21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8 of 14</a:t>
            </a:r>
          </a:p>
        </p:txBody>
      </p:sp>
    </p:spTree>
    <p:extLst>
      <p:ext uri="{BB962C8B-B14F-4D97-AF65-F5344CB8AC3E}">
        <p14:creationId xmlns:p14="http://schemas.microsoft.com/office/powerpoint/2010/main" val="700243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453439-1979-4B6E-876D-E37D26A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471CC9-D7B0-437F-B656-9910F50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2FC253-C381-480D-8969-6558511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Efficacy: Endocrine-Resistant Setting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37AABF-6C5A-4D0B-B981-EE48053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Present efficacy evidence supporting the fulvestrant combination after prior endocrine therapy.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C9DA1E-99BC-45A3-86A4-3556786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07407E-A633-4FE1-9D79-9690766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Phase 3 PALOMA-3 enrolled 521 patients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3B2ECB-A63D-43FA-9E4E-66C9727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Phase 3 PALOMA-3 enrolled 521 patients with HR-positive, HER2-negative advanced breast cancer whose disease progressed after prior endocrine therapy, randomized to palbociclib plus fulvestrant or placebo plus fulvestrant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A long-term exploratory overall survival analysis (73.3-month median follow-up) showed median OS of 34.8 vs 28.0 months (HR 0.81; 95% CI, 0.65-0.99); OS was a secondary/exploratory endpoint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7D485D-40B1-44DE-901C-7E9BDFF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275A21-A820-4617-A804-F23C655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Primary endpoint met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BB3001-68F1-4B83-9332-985CBBA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Primary endpoint met: median progression-free survival 9.5 months vs 4.6 months with palbociclib plus fulvestrant vs placebo plus fulvestrant (HR 0.46; 95% CI, 0.36-0.59)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88B1A8-4900-4E44-94BC-903C45D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4552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AA8F87-7E3E-441B-8257-6F6696F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666E9E-5F94-437D-A6DB-F1FB161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[1] FDA Approval of Palbociclib in Combination with Fulvestrant for HR+, HER2- Metastatic… —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[2] Overall Survival with Palbociclib and Fulvestrant in Women with HR+/HER2− ABC: Updated… — Abstract/Results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A5C53B-45E2-43E2-BE32-32FDD3D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99C73D-A6B5-4CF4-8EA7-C8261E21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9 of 14</a:t>
            </a:r>
          </a:p>
        </p:txBody>
      </p:sp>
    </p:spTree>
    <p:extLst>
      <p:ext uri="{BB962C8B-B14F-4D97-AF65-F5344CB8AC3E}">
        <p14:creationId xmlns:p14="http://schemas.microsoft.com/office/powerpoint/2010/main" val="700243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453439-1979-4B6E-876D-E37D26A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471CC9-D7B0-437F-B656-9910F50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2FC253-C381-480D-8969-6558511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Newer Approved Combinations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37AABF-6C5A-4D0B-B981-EE48053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Familiarize HCPs with the two most recently approved palbociclib combination regimens.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5C9DA1E-99BC-45A3-86A4-3556786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07407E-A633-4FE1-9D79-9690766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INAVO120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3B2ECB-A63D-43FA-9E4E-66C9727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INAVO120: inavolisib plus palbociclib plus fulvestrant vs placebo plus palbociclib plus fulvestrant in endocrine-resistant, PIK3CA-mutated HR-positive, HER2-negative disease; median progression-free survival 15.0 vs 7.3 months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Overall survival data for the PATINA maintenance regimen remain immature; follow-up is ongoing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7D485D-40B1-44DE-901C-7E9BDFF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5522976" cy="19202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275A21-A820-4617-A804-F23C655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PATINA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BB3001-68F1-4B83-9332-985CBBA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11096"/>
            <a:ext cx="519379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PATINA: palbociclib plus trastuzumab (with or without pertuzumab) plus endocrine therapy vs trastuzumab (with or without pertuzumab) plus endocrine therapy alone, as maintenance after induction therapy in HR-positive, HER2-positive advanced/metastatic breast…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88B1A8-4900-4E44-94BC-903C45D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4552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AA8F87-7E3E-441B-8257-6F6696F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666E9E-5F94-437D-A6DB-F1FB161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[1] FDA approves inavolisib with palbociclib and fulvestrant for endocrine-resistant,… — Dosing regimen paragraph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[2] FDA approves palbociclib with trastuzumab, with or without pertuzumab, and endocrine… — Efficacy/PATINA description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50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[3] FDA Approves Palbociclib for HR+/HER2+ Metastatic Breast Cancer Maintenance — PFS results paragraph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A5C53B-45E2-43E2-BE32-32FDD3D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99C73D-A6B5-4CF4-8EA7-C8261E21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10 of 14</a:t>
            </a:r>
          </a:p>
        </p:txBody>
      </p:sp>
    </p:spTree>
    <p:extLst>
      <p:ext uri="{BB962C8B-B14F-4D97-AF65-F5344CB8AC3E}">
        <p14:creationId xmlns:p14="http://schemas.microsoft.com/office/powerpoint/2010/main" val="700243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07D3E8-0E7E-4CC6-A84A-8A8F915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D91D18-7B95-4088-BFF7-B31D613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D5829-736B-46D3-BDBD-C474504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Safety: Neutropenia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CB5843-75F9-439F-A61A-FB29539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Equip HCPs to anticipate, monitor, and manage the most frequent adverse reaction.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0AD0BD3-47CF-4C97-B92D-985C45F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C99138-3A4E-43F6-BDBB-62F23FD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Neutropenia was the most frequently reported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E3328D-E875-4A40-B673-35CEA8C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Neutropenia was the most frequently reported adverse reaction: 80% of patients in PALOMA-2 and 83% in PALOMA-3 (any grade), with Grade 3 or 4 decreases in the majority of these cases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Febrile neutropenia occurred in 1.8% of patients across PALOMA-2 and PALOMA-3; instruct patients to promptly report any fever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1215EC-6A25-4C19-8374-4287A33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13CE94D-43FC-41A5-9AA9-438395C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Median time to first episode of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752DA2-989C-4CE1-BB91-787C19A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Median time to first episode of any-grade neutropenia was 15 days; median duration of Grade 3 or higher neutropenia was 7 days; the effect is not cumulative across cycles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071EDF-E0BF-4C87-B1CD-CE3CB61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AFFF6F-F482-424E-8878-2D2AE29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Monitor complete blood count prior to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C5F94C-4611-4D13-AACF-E40C5C2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Monitor complete blood count prior to starting therapy, at the beginning of each cycle, on Day 15 of the first 2 cycles, and as clinically indicated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A658B84-EF3D-4AB1-B355-1E745BE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11274552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5875">
            <a:solidFill>
              <a:srgbClr val="F4A25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480748-5B3E-4ABC-BACD-46A1BE2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8A4B12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029359-8E63-496C-8AC3-550B9B3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[1] Label: IBRANCE- palbociclib capsule - DailyMed - NIH — Warnings and Precautions - Neutropenia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[2] Palbociclib with Letrozole in Postmenopausal Women with ER+/HER2− Advanced Breast… — Abstract / Results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[3] Pfizer Announces Overall Survival Results from Phase 3 PALOMA-3 Trial of IBRANCE — Safety information section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00D46F-05F6-4C1E-9691-CA47573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519F4B-CBE2-4734-89FA-2007FE4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11 of 14</a:t>
            </a:r>
          </a:p>
        </p:txBody>
      </p:sp>
    </p:spTree>
    <p:extLst>
      <p:ext uri="{BB962C8B-B14F-4D97-AF65-F5344CB8AC3E}">
        <p14:creationId xmlns:p14="http://schemas.microsoft.com/office/powerpoint/2010/main" val="1096289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07D3E8-0E7E-4CC6-A84A-8A8F915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D91D18-7B95-4088-BFF7-B31D613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D5829-736B-46D3-BDBD-C474504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Safety: ILD/Pneumonitis and Embryo-Fetal Risk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CB5843-75F9-439F-A61A-FB29539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Reinforce recognition and management of serious, less common risks.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0AD0BD3-47CF-4C97-B92D-985C45F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C99138-3A4E-43F6-BDBB-62F23FD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Severe, life-threatening, or fatal interstitial lung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E3328D-E875-4A40-B673-35CEA8C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Severe, life-threatening, or fatal interstitial lung disease (ILD)/pneumonitis can occur; monitor patients for pulmonary symptoms such as hypoxia, cough, and dyspnea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The current label lists no contraindications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1215EC-6A25-4C19-8374-4287A33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584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13CE94D-43FC-41A5-9AA9-438395C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Interrupt IBRANCE immediately for suspected ILD/pneumonitis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752DA2-989C-4CE1-BB91-787C19A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Interrupt IBRANCE immediately for suspected ILD/pneumonitis and evaluate; permanently discontinue for severe cases; additional fatalities have been reported in the postmarketing setting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071EDF-E0BF-4C87-B1CD-CE3CB61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968" y="1508760"/>
            <a:ext cx="3605784" cy="210312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AFFF6F-F482-424E-8878-2D2AE29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618488"/>
            <a:ext cx="3276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IBRANCE can cause fetal harm based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C5F94C-4611-4D13-AACF-E40C5C2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911096"/>
            <a:ext cx="3276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IBRANCE can cause fetal harm based on animal data and mechanism of action; advise effective contraception during treatment (females: at least 3 weeks after the last dose; males with female partners of reproductive potential: 3 months after the last dose)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A658B84-EF3D-4AB1-B355-1E745BE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11274552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5875">
            <a:solidFill>
              <a:srgbClr val="F4A25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480748-5B3E-4ABC-BACD-46A1BE2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8A4B12"/>
                </a:solidFill>
                <a:latin typeface="Cambria"/>
                <a:ea typeface="Cambria"/>
                <a:cs typeface="Cambria"/>
              </a:rPr>
              <a:t>Sources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029359-8E63-496C-8AC3-550B9B3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[1] Label: IBRANCE- palbociclib capsule - DailyMed - NIH — Warnings and Precautions - ILD/Pneumonitis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[2] full prescribing information for IBRANCE - Pfizer labeling — Use in Specific Populations (8.1, 8.2, 8.3)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300">
                <a:solidFill>
                  <a:srgbClr val="8A4B12"/>
                </a:solidFill>
                <a:latin typeface="Calibri"/>
                <a:ea typeface="Calibri"/>
                <a:cs typeface="Calibri"/>
              </a:rPr>
              <a:t>[3] Palbociclib Highlights of Prescribing Information (via ClinicalTrials.gov protocol… — CONTRAINDICATIONS section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00D46F-05F6-4C1E-9691-CA47573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519F4B-CBE2-4734-89FA-2007FE4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12 of 14</a:t>
            </a:r>
          </a:p>
        </p:txBody>
      </p:sp>
    </p:spTree>
    <p:extLst>
      <p:ext uri="{BB962C8B-B14F-4D97-AF65-F5344CB8AC3E}">
        <p14:creationId xmlns:p14="http://schemas.microsoft.com/office/powerpoint/2010/main" val="10962897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DAEC16-2F70-4D98-AD1C-1894AA48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EE13CA-EF9E-4645-AF9F-531E3DC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751EBA-B2BE-4981-8F87-1752FBD7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Patient Counseling Essentials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6266B1-EBCD-4E79-872B-016308A9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Provide practical talking points to support adherence and early recognition of adverse events.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2FB186-A4A0-4205-82AE-73B3EA3B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74552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F578E9C-2B84-4F22-81F7-AC34ECA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2481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128037-825F-4922-8E81-1F26684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2481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857060-CBE0-4E2F-9E65-C8712F3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0020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Take at approximately the same time each day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D7FAD6-CD21-41F5-9D83-972138F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92808"/>
            <a:ext cx="103601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Take at approximately the same time each day; capsules always with food, tablets with or without food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Promptly report fever, new or worsening respiratory symptoms, or signs of infection or unusual bleeding/bruising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4535B1-8840-48EA-9AF3-7A8204E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4552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D52ADC9-D41B-4B8B-956A-BEE7F061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878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6535F0-A624-4D89-80DB-3418A6B5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878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114BFEC-B7A6-4FE3-940D-DBC245AA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06324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Avoid grapefruit, grapefruit juice, and grapefruit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364CC5-E7A5-4A3A-A811-7CE0C6E7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55848"/>
            <a:ext cx="103601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Avoid grapefruit, grapefruit juice, and grapefruit products throughout treatment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Use effective contraception during treatment; do not breastfeed during treatment and for 3 weeks after the last dose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B10AF17-9D08-4A26-BBFA-60F9A02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11274552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1999A52-EF7D-4A05-B444-2B8E3173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85089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0446EE-6F65-40B9-89B1-49252EF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85089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/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0709DA-91D5-44C0-886A-3BFEB76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526280"/>
            <a:ext cx="103601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CE02C63-5227-46A6-A647-8670CED5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818888"/>
            <a:ext cx="103601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[1] Taking IBRANCE® for mBC | IBRANCE® (palbociclib)| Safety Info — ibrance.com/taking-ibrance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[2] Label: IBRANCE- palbociclib tablet, film coated - DailyMed — Patient Counseling Information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[3] Label: IBRANCE- palbociclib capsule - DailyMed — Use in Specific Populations, Lactation (8.2)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2BFE563-FEAE-4283-A337-7DB9F5CD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10BD9B-EA17-4278-B9C2-2895AAA1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13 of 14</a:t>
            </a:r>
          </a:p>
        </p:txBody>
      </p:sp>
    </p:spTree>
    <p:extLst>
      <p:ext uri="{BB962C8B-B14F-4D97-AF65-F5344CB8AC3E}">
        <p14:creationId xmlns:p14="http://schemas.microsoft.com/office/powerpoint/2010/main" val="9598194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40A5C9-BA89-463B-96A2-1D1C978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18578F-E3D4-4642-8C71-A050B7C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0F9559-EC74-4307-9E5C-2EF5F2F8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15A66"/>
                </a:solidFill>
                <a:latin typeface="Cambria"/>
                <a:ea typeface="Cambria"/>
                <a:cs typeface="Cambria"/>
              </a:rPr>
              <a:t>Key Takeaways for Practice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602D00-B151-4782-AB61-CBF57AC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86968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Consolidate learning and translate it into practical, on-label prescribing behavior.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8A0560-B99D-4123-A63E-82ACA27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5522976" cy="121158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3386817-F3C3-4A9B-8E57-9D0777D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Ibrance (palbociclib) combined with an aromatase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0D3E4F-53AE-463A-961D-A4FC416D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11096"/>
            <a:ext cx="5193792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Ibrance (palbociclib) combined with an aromatase inhibitor, fulvestrant, inavolisib plus fulvestrant, or trastuzumab-based therapy is FDA-approved across defined HR-positive breast cancer populations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E107210-24CE-469A-BAA0-D7AFCC4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5522976" cy="121158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7E0A94-4714-4B27-86DF-2D18A76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61848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Consistent, substantial progression-free survival benefit has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EAC5AC-C839-465C-9586-C2C5D931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11096"/>
            <a:ext cx="5193792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Consistent, substantial progression-free survival benefit has been demonstrated across pivotal trials; overall survival findings vary by trial and endocrine partner and should be discussed with patients accurately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35309C4-E41B-4C44-BE2E-9A9C1F2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8940"/>
            <a:ext cx="5522976" cy="121158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BC6D7F-2C85-4A67-AB6F-64CF409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586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Structured complete blood count monitoring and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411AFB7-FD7A-4C7C-9F9C-ED19092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51276"/>
            <a:ext cx="5193792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Structured complete blood count monitoring and prompt dose modification make neutropenia a manageable, largely reversible toxicity in most patients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6A13304-EBB3-466D-BDBA-1D5CEB77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48940"/>
            <a:ext cx="5522976" cy="121158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D9EEE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2562CB-D35D-47E9-8E92-4549F4E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0586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15A66"/>
                </a:solidFill>
                <a:latin typeface="Calibri"/>
                <a:ea typeface="Calibri"/>
                <a:cs typeface="Calibri"/>
              </a:rPr>
              <a:t>Counsel patients on administration technique, grapefruit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5E70165-CA5A-46D1-8826-07EE37E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351276"/>
            <a:ext cx="5193792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1424A"/>
                </a:solidFill>
                <a:latin typeface="Calibri"/>
                <a:ea typeface="Calibri"/>
                <a:cs typeface="Calibri"/>
              </a:rPr>
              <a:t>• Counsel patients on administration technique, grapefruit avoidance, contraception, and prompt reporting of fever or respiratory symptoms at every visit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1A91575-E6F6-4E81-9484-0925E87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1127455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15A66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CD8DCE-983F-4293-AB51-C8B2105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10607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[1] Label: IBRANCE- palbociclib capsule - DailyMed - NIH — Highlights of Prescribing Information, Indications and Usage</a:t>
            </a:r>
          </a:p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[2] Palbociclib and Letrozole in Advanced Breast Cancer | NEJM — Results</a:t>
            </a:r>
          </a:p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D7F3EF"/>
                </a:solidFill>
                <a:latin typeface="Calibri"/>
                <a:ea typeface="Calibri"/>
                <a:cs typeface="Calibri"/>
              </a:rPr>
              <a:t>[3] Label: IBRANCE- palbociclib capsule - DailyMed - NIH — Warnings and Precautions - Neutropenia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82DFF9-8886-4564-8A56-4E89DFA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FOR HEALTHCARE PROFESSIONAL USE  |  See full Prescribing Information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509586D-F898-40F3-BFD4-19472DD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647395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7C80"/>
                </a:solidFill>
                <a:latin typeface="Calibri"/>
                <a:ea typeface="Calibri"/>
                <a:cs typeface="Calibri"/>
              </a:rPr>
              <a:t>14 of 14</a:t>
            </a:r>
          </a:p>
        </p:txBody>
      </p:sp>
    </p:spTree>
    <p:extLst>
      <p:ext uri="{BB962C8B-B14F-4D97-AF65-F5344CB8AC3E}">
        <p14:creationId xmlns:p14="http://schemas.microsoft.com/office/powerpoint/2010/main" val="4633932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2026-07-15T08:31:39.3680000Z</dcterms:created>
  <dcterms:modified xsi:type="dcterms:W3CDTF">2026-07-15T08:31:39.3680000Z</dcterms:modified>
</coreProperties>
</file>