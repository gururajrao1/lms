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b1f9c569544d2" /><Relationship Type="http://schemas.openxmlformats.org/officeDocument/2006/relationships/extended-properties" Target="/docProps/app.xml" Id="Rf87dca98f4ca4753" /><Relationship Type="http://schemas.openxmlformats.org/officeDocument/2006/relationships/officeDocument" Target="/ppt/presentation.xml" Id="R16902ed28ad940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cafbdb779c42c3"/>
  </p:sldMasterIdLst>
  <p:notesMasterIdLst>
    <p:notesMasterId xmlns:r="http://schemas.openxmlformats.org/officeDocument/2006/relationships" r:id="Rfe97242708654e47"/>
  </p:notesMasterIdLst>
  <p:sldIdLst>
    <p:sldId xmlns:r="http://schemas.openxmlformats.org/officeDocument/2006/relationships" id="256" r:id="R5550406b95f44665"/>
    <p:sldId xmlns:r="http://schemas.openxmlformats.org/officeDocument/2006/relationships" id="257" r:id="Rd5e1ad17142b4e38"/>
    <p:sldId xmlns:r="http://schemas.openxmlformats.org/officeDocument/2006/relationships" id="258" r:id="R5d306c47b64c417e"/>
    <p:sldId xmlns:r="http://schemas.openxmlformats.org/officeDocument/2006/relationships" id="259" r:id="Rb998081c72d44a02"/>
    <p:sldId xmlns:r="http://schemas.openxmlformats.org/officeDocument/2006/relationships" id="260" r:id="R843598ffd665402b"/>
    <p:sldId xmlns:r="http://schemas.openxmlformats.org/officeDocument/2006/relationships" id="261" r:id="Raeafd3b0c6bc42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45113fa71b45c2" /><Relationship Type="http://schemas.openxmlformats.org/officeDocument/2006/relationships/slideMaster" Target="/ppt/slideMasters/slideMaster1.xml" Id="R71cafbdb779c42c3" /><Relationship Type="http://schemas.openxmlformats.org/officeDocument/2006/relationships/notesMaster" Target="/ppt/notesMasters/notesMaster1.xml" Id="Rfe97242708654e47" /><Relationship Type="http://schemas.openxmlformats.org/officeDocument/2006/relationships/presProps" Target="/ppt/presProps.xml" Id="R41f997fe9f4a4011" /><Relationship Type="http://schemas.openxmlformats.org/officeDocument/2006/relationships/tableStyles" Target="/ppt/tableStyles.xml" Id="R35a23a7a5bcb440d" /><Relationship Type="http://schemas.openxmlformats.org/officeDocument/2006/relationships/slide" Target="/ppt/slides/slide1.xml" Id="R5550406b95f44665" /><Relationship Type="http://schemas.openxmlformats.org/officeDocument/2006/relationships/slide" Target="/ppt/slides/slide2.xml" Id="Rd5e1ad17142b4e38" /><Relationship Type="http://schemas.openxmlformats.org/officeDocument/2006/relationships/slide" Target="/ppt/slides/slide3.xml" Id="R5d306c47b64c417e" /><Relationship Type="http://schemas.openxmlformats.org/officeDocument/2006/relationships/slide" Target="/ppt/slides/slide4.xml" Id="Rb998081c72d44a02" /><Relationship Type="http://schemas.openxmlformats.org/officeDocument/2006/relationships/slide" Target="/ppt/slides/slide5.xml" Id="R843598ffd665402b" /><Relationship Type="http://schemas.openxmlformats.org/officeDocument/2006/relationships/slide" Target="/ppt/slides/slide6.xml" Id="Raeafd3b0c6bc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15c780469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2c4d72fef54243" /><Relationship Type="http://schemas.openxmlformats.org/officeDocument/2006/relationships/notesMaster" Target="/ppt/notesMasters/notesMaster1.xml" Id="R0801c192d4894b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55573c5b2d4321" /><Relationship Type="http://schemas.openxmlformats.org/officeDocument/2006/relationships/notesMaster" Target="/ppt/notesMasters/notesMaster1.xml" Id="R8f9c5f489de141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4721ec64a458d" /><Relationship Type="http://schemas.openxmlformats.org/officeDocument/2006/relationships/notesMaster" Target="/ppt/notesMasters/notesMaster1.xml" Id="Rfbc9bc0f33ae40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442d4bd2384d36" /><Relationship Type="http://schemas.openxmlformats.org/officeDocument/2006/relationships/notesMaster" Target="/ppt/notesMasters/notesMaster1.xml" Id="R8bbd92d692394b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90f8e5c59f4e12" /><Relationship Type="http://schemas.openxmlformats.org/officeDocument/2006/relationships/notesMaster" Target="/ppt/notesMasters/notesMaster1.xml" Id="R5f677d5bbfa84d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1bb026e9e94b5c" /><Relationship Type="http://schemas.openxmlformats.org/officeDocument/2006/relationships/notesMaster" Target="/ppt/notesMasters/notesMaster1.xml" Id="R106d31c58cbc4c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job: By the end, MSL and HCP learners should explain the labeled setting, mechanism, pivotal evidence, schedule, and core monitoring actions. Source: current DailyMed IBRANCE prescribing information, accessed 2026-07-14.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DailyMed. IBRANCE (palbociclib) tablets, Section 12.1 Mechanism of Action. https://dailymed.nlm.nih.gov/dailymed/lookup.cfm?setid=fecbdd7d-b729-41b5-9872-231b8fe104ce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references: (1) DailyMed IBRANCE prescribing information, Section 14, Table 10. (2) ClinicalTrials.gov NCT01740427. The label reports median PFS 24.8 vs 14.5 months, HR 0.576; final OS was not statistically significant.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references: (1) DailyMed IBRANCE prescribing information, Section 14, Table 10. (2) ClinicalTrials.gov NCT01740427. The label reports median PFS 24.8 vs 14.5 months, HR 0.576; final OS was not statistically significant.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 IBRANCE prescribing information. Section 2.1 Recommended Dose and Schedule; Section 5.1 Neutropenia; Section 5.2 ILD/Pneumonitis.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learners to connect each action to its exact label section. Educational demo only; refer to the current prescribing information and institutional guidance before clinical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51335dbee4a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ddf3f0e6c41a0" /><Relationship Type="http://schemas.openxmlformats.org/officeDocument/2006/relationships/slideLayout" Target="/ppt/slideLayouts/slideLayout1.xml" Id="Rfc802bb2bbb848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02bb2bbb848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e1afdb45941d7" /><Relationship Type="http://schemas.openxmlformats.org/officeDocument/2006/relationships/notesSlide" Target="/ppt/notesSlides/notesSlide1.xml" Id="Rb3c2c692faf7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c47755a0f48a0" /><Relationship Type="http://schemas.openxmlformats.org/officeDocument/2006/relationships/notesSlide" Target="/ppt/notesSlides/notesSlide2.xml" Id="R85b71c29cf8c4e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15bfbb0194817" /><Relationship Type="http://schemas.openxmlformats.org/officeDocument/2006/relationships/notesSlide" Target="/ppt/notesSlides/notesSlide3.xml" Id="R85790800ec3144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f2be639c84c79" /><Relationship Type="http://schemas.openxmlformats.org/officeDocument/2006/relationships/notesSlide" Target="/ppt/notesSlides/notesSlide4.xml" Id="R6dea9dd62e914c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a6730a92a47b1" /><Relationship Type="http://schemas.openxmlformats.org/officeDocument/2006/relationships/notesSlide" Target="/ppt/notesSlides/notesSlide5.xml" Id="R2dd88387d15d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be77ccd5f4bae" /><Relationship Type="http://schemas.openxmlformats.org/officeDocument/2006/relationships/notesSlide" Target="/ppt/notesSlides/notesSlide6.xml" Id="R38160638029248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A684D-8CDC-4B3B-B7CE-A8BEE95D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A61"/>
                </a:solidFill>
              </a:defRPr>
            </a:pPr>
            <a:r>
              <a:rPr sz="1350" b="1">
                <a:solidFill>
                  <a:srgbClr val="006A61"/>
                </a:solidFill>
              </a:rPr>
              <a:t>PHARMALEARN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84A43-DBB8-478D-A1EA-17535FE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1C30"/>
                </a:solidFill>
              </a:defRPr>
            </a:pPr>
            <a:r>
              <a:rPr sz="5100" b="1">
                <a:solidFill>
                  <a:srgbClr val="0B1C30"/>
                </a:solidFill>
              </a:rPr>
              <a:t>Ibrance scientific exchange essentials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D5228-9516-4455-BA74-2E77FAE4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86577"/>
                </a:solidFill>
              </a:defRPr>
            </a:pPr>
            <a:r>
              <a:rPr sz="2100" b="0">
                <a:solidFill>
                  <a:srgbClr val="586577"/>
                </a:solidFill>
              </a:rPr>
              <a:t>Evidence interpretation for Medical Science Liaisons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D0D36-DDD3-42A7-A7F7-659F930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622F7-5B66-477F-A7C4-21D42DDC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577"/>
                </a:solidFill>
              </a:defRPr>
            </a:pPr>
            <a:r>
              <a:rPr sz="1425" b="0">
                <a:solidFill>
                  <a:srgbClr val="586577"/>
                </a:solidFill>
              </a:rPr>
              <a:t>US scope  •  Internal MSL training  •  Refer to current prescribing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5654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171E6-DE42-4ADA-9B53-2F0F908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MSL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7A2B4-CA0B-4681-B6C0-81B9BDAB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CDK4/6 inhibition interrupts the G1-to-S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5E804-ABE3-4EFB-971E-9E24C567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21FD0-71D7-4098-AFDA-3AF953D7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 12.1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9B34D-CE42-4070-A858-FA44FDE1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B5779-59DA-4283-A497-11114D2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0B1C30"/>
                </a:solidFill>
              </a:defRPr>
            </a:pPr>
            <a:r>
              <a:rPr sz="6150" b="1">
                <a:solidFill>
                  <a:srgbClr val="0B1C30"/>
                </a:solidFill>
              </a:rPr>
              <a:t>G1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CBBB6-AF5D-4543-8ADE-9D874DB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006A61"/>
                </a:solidFill>
              </a:defRPr>
            </a:pPr>
            <a:r>
              <a:rPr sz="5700" b="1">
                <a:solidFill>
                  <a:srgbClr val="006A61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F966D-2817-4AEB-A133-B0A5751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150" b="1">
                <a:solidFill>
                  <a:srgbClr val="0B1C30"/>
                </a:solidFill>
              </a:defRPr>
            </a:pPr>
            <a:r>
              <a:rPr sz="6150" b="1">
                <a:solidFill>
                  <a:srgbClr val="0B1C30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37B59-A279-4699-A038-411593F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29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CDK4/6 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CD71-FE72-41C2-99F0-6FCB1DE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76DB1-089E-47FE-99E7-7078337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C30"/>
                </a:solidFill>
              </a:defRPr>
            </a:pPr>
            <a:r>
              <a:rPr sz="2325" b="1">
                <a:solidFill>
                  <a:srgbClr val="0B1C30"/>
                </a:solidFill>
              </a:rPr>
              <a:t>Palbociclib inhibits CDK4 and CDK6.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B10E-9F37-4EFB-964E-00F8C3B5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Keep this preclinical mechanism distinct from clinical outcome claims.</a:t>
            </a:r>
          </a:p>
        </p:txBody>
      </p:sp>
    </p:spTree>
    <p:extLst>
      <p:ext uri="{BB962C8B-B14F-4D97-AF65-F5344CB8AC3E}">
        <p14:creationId xmlns:p14="http://schemas.microsoft.com/office/powerpoint/2010/main" val="796362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B6D72-EFDB-4449-9DBB-FCFB000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MSL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F8610-7D0D-48FB-824F-23F6544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PALOMA-2 anchors the combination efficacy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076D4-0B20-4B66-96B5-5667C69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1E4C-8A6A-4D93-B12A-4DA1BDB0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PI, Section 14, Table 10  •  [2] ClinicalTrials.gov NCT01740427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121D-C9D0-4E5C-AB71-23D1BA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7F006-5964-4913-AF55-F9D7FB2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24.8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98F47-EBC0-4ADF-91B4-39BDF1E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D61A8-FC3C-406D-9C04-91A0275D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IBRANCE + letrozole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BF60-10C4-4A51-92AA-1F2C4DC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14.5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24ED-F562-44A8-8F91-6A3EAC6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D43CD-7114-47B5-83D1-9E0F7B1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Placebo + letrozole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881D7-045F-47BF-A1DF-1F923F5A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19747-F74D-4BD4-A0E3-0F92574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C30"/>
                </a:solidFill>
              </a:defRPr>
            </a:pPr>
            <a:r>
              <a:rPr sz="2550" b="1">
                <a:solidFill>
                  <a:srgbClr val="0B1C30"/>
                </a:solidFill>
              </a:rPr>
              <a:t>HR 0.576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E30D-AD00-4F90-B61F-DE5F36D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PFS favored palbociclib plus letrozole.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8F85A-A8A3-421C-B1E8-649AA5C9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The prespecified final OS analysis was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76535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B6D72-EFDB-4449-9DBB-FCFB000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MSL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F8610-7D0D-48FB-824F-23F6544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PFS improved; final OS was not statistically significant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076D4-0B20-4B66-96B5-5667C69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1E4C-8A6A-4D93-B12A-4DA1BDB0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PI, Section 14, Table 10  •  [2] ClinicalTrials.gov NCT01740427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121D-C9D0-4E5C-AB71-23D1BA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7F006-5964-4913-AF55-F9D7FB2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24.8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98F47-EBC0-4ADF-91B4-39BDF1E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D61A8-FC3C-406D-9C04-91A0275D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IBRANCE + letrozole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BF60-10C4-4A51-92AA-1F2C4DC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14.5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24ED-F562-44A8-8F91-6A3EAC6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D43CD-7114-47B5-83D1-9E0F7B1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Placebo + letrozole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881D7-045F-47BF-A1DF-1F923F5A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19747-F74D-4BD4-A0E3-0F92574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C30"/>
                </a:solidFill>
              </a:defRPr>
            </a:pPr>
            <a:r>
              <a:rPr sz="2550" b="1">
                <a:solidFill>
                  <a:srgbClr val="0B1C30"/>
                </a:solidFill>
              </a:rPr>
              <a:t>HR 0.576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E30D-AD00-4F90-B61F-DE5F36D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Do not turn PFS into an unsupported OS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8F85A-A8A3-421C-B1E8-649AA5C9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The prespecified final OS analysis was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76535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54B8B-9620-444F-B26C-FA3E766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MSL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001C-C57C-46FC-B935-3D2D400E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Label-based responses pair schedule with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D3DCA-05A3-4618-90BF-C140754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457C-3E16-41FA-99C8-C964BEC5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Sections 2.1, 5.1, and 5.2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DF79-6FDB-47BE-B627-BE94FFB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45D7-F738-40C5-8F92-A4A6BA7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4E1C6-B3C7-49EB-B0F8-836E886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9BD68-E004-4A12-A531-967DE93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D7E1EB"/>
                </a:solidFill>
              </a:defRPr>
            </a:pPr>
            <a:r>
              <a:rPr sz="3600" b="0">
                <a:solidFill>
                  <a:srgbClr val="D7E1EB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0DFC-B8E7-4EC7-BB17-FB308F3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91F16-76EB-4ECF-B0AC-D62DC60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9DEE7-DB69-436E-8FEF-AC03FEC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1C30"/>
                </a:solidFill>
              </a:defRPr>
            </a:pPr>
            <a:r>
              <a:rPr sz="2175" b="1">
                <a:solidFill>
                  <a:srgbClr val="0B1C30"/>
                </a:solidFill>
              </a:rPr>
              <a:t>125 mg once daily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40CF6-D609-4150-951E-2E2A3527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C064B-9146-4ADB-9F98-47E1692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Monitor complete blood 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3099-C685-4421-A8C1-63524DC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86577"/>
                </a:solidFill>
              </a:defRPr>
            </a:pPr>
            <a:r>
              <a:rPr sz="1725" b="0">
                <a:solidFill>
                  <a:srgbClr val="586577"/>
                </a:solidFill>
              </a:rPr>
              <a:t>Before treatment • Each cycle start • Day 15 of Cycles 1 and 2 • As clinically indicated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0CB38-0833-43DE-B134-D064908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1C30"/>
                </a:solidFill>
              </a:defRPr>
            </a:pPr>
            <a:r>
              <a:rPr sz="2025" b="1">
                <a:solidFill>
                  <a:srgbClr val="0B1C30"/>
                </a:solidFill>
              </a:rPr>
              <a:t>Suspected ILD/pneumonitis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1662F-BD36-4C04-957A-796640E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Interrupt immediately and evaluate; permanently discontinue for severe disease.</a:t>
            </a:r>
          </a:p>
        </p:txBody>
      </p:sp>
    </p:spTree>
    <p:extLst>
      <p:ext uri="{BB962C8B-B14F-4D97-AF65-F5344CB8AC3E}">
        <p14:creationId xmlns:p14="http://schemas.microsoft.com/office/powerpoint/2010/main" val="181894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47A62-8147-42CD-8CB2-58D732B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MSL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B4510-F507-49A6-9E38-2C46E943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Use an evidence-first response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39B5E-2844-430E-876D-5FD662A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C14D-1EF1-47AD-B645-D499D34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Current IBRANCE Prescribing Information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F1D4-5852-4AC5-A29A-E255531B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0FE20-EC5E-4893-A805-960F278C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E85FA-8E84-4C08-95B2-1615CCE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717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Clarify the question and clinical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3001B-468A-4CC2-B1D2-CBC54E3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624AD-40E3-47BA-8D44-B91EAFB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A8484-3B3B-4B15-8639-BAB101E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Answer from the closest direct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4548C-1960-4B85-AD7B-49364C2D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766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28D30-19B6-432B-B392-883E59F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63141-E076-4220-A80E-B7C2AC1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State limitations and evidence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BCD27-C753-45B7-820C-29786F9C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07236-BA34-470C-A0FF-7C28E51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2C3C3-CEE5-4D06-9B79-8822E57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Escalate when evidence does not answer</a:t>
            </a:r>
          </a:p>
        </p:txBody>
      </p:sp>
    </p:spTree>
    <p:extLst>
      <p:ext uri="{BB962C8B-B14F-4D97-AF65-F5344CB8AC3E}">
        <p14:creationId xmlns:p14="http://schemas.microsoft.com/office/powerpoint/2010/main" val="100080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2026-07-14T11:22:10.3030000Z</dcterms:created>
  <dcterms:modified xsi:type="dcterms:W3CDTF">2026-07-14T11:22:10.3030000Z</dcterms:modified>
</coreProperties>
</file>