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e6da95130b4216" /><Relationship Type="http://schemas.openxmlformats.org/officeDocument/2006/relationships/extended-properties" Target="/docProps/app.xml" Id="R3d10cbcd1fc04e4d" /><Relationship Type="http://schemas.openxmlformats.org/officeDocument/2006/relationships/officeDocument" Target="/ppt/presentation.xml" Id="R7c53785ac01e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c742b45dd149ae"/>
  </p:sldMasterIdLst>
  <p:notesMasterIdLst>
    <p:notesMasterId xmlns:r="http://schemas.openxmlformats.org/officeDocument/2006/relationships" r:id="R3a06df2b44df40b3"/>
  </p:notesMasterIdLst>
  <p:sldIdLst>
    <p:sldId xmlns:r="http://schemas.openxmlformats.org/officeDocument/2006/relationships" id="256" r:id="Raaaf33fa32af48dd"/>
    <p:sldId xmlns:r="http://schemas.openxmlformats.org/officeDocument/2006/relationships" id="257" r:id="R2e40d4b5653b4af1"/>
    <p:sldId xmlns:r="http://schemas.openxmlformats.org/officeDocument/2006/relationships" id="258" r:id="Ra139f6719aa04eca"/>
    <p:sldId xmlns:r="http://schemas.openxmlformats.org/officeDocument/2006/relationships" id="259" r:id="R24d174064fc94aca"/>
    <p:sldId xmlns:r="http://schemas.openxmlformats.org/officeDocument/2006/relationships" id="260" r:id="R236b792f38384e29"/>
    <p:sldId xmlns:r="http://schemas.openxmlformats.org/officeDocument/2006/relationships" id="261" r:id="Rb4d518f5062547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8fad03dd354e2b" /><Relationship Type="http://schemas.openxmlformats.org/officeDocument/2006/relationships/slideMaster" Target="/ppt/slideMasters/slideMaster1.xml" Id="R29c742b45dd149ae" /><Relationship Type="http://schemas.openxmlformats.org/officeDocument/2006/relationships/notesMaster" Target="/ppt/notesMasters/notesMaster1.xml" Id="R3a06df2b44df40b3" /><Relationship Type="http://schemas.openxmlformats.org/officeDocument/2006/relationships/presProps" Target="/ppt/presProps.xml" Id="R5692b3530e554d36" /><Relationship Type="http://schemas.openxmlformats.org/officeDocument/2006/relationships/tableStyles" Target="/ppt/tableStyles.xml" Id="R9dd0a2f71d9246a1" /><Relationship Type="http://schemas.openxmlformats.org/officeDocument/2006/relationships/slide" Target="/ppt/slides/slide1.xml" Id="Raaaf33fa32af48dd" /><Relationship Type="http://schemas.openxmlformats.org/officeDocument/2006/relationships/slide" Target="/ppt/slides/slide2.xml" Id="R2e40d4b5653b4af1" /><Relationship Type="http://schemas.openxmlformats.org/officeDocument/2006/relationships/slide" Target="/ppt/slides/slide3.xml" Id="Ra139f6719aa04eca" /><Relationship Type="http://schemas.openxmlformats.org/officeDocument/2006/relationships/slide" Target="/ppt/slides/slide4.xml" Id="R24d174064fc94aca" /><Relationship Type="http://schemas.openxmlformats.org/officeDocument/2006/relationships/slide" Target="/ppt/slides/slide5.xml" Id="R236b792f38384e29" /><Relationship Type="http://schemas.openxmlformats.org/officeDocument/2006/relationships/slide" Target="/ppt/slides/slide6.xml" Id="Rb4d518f5062547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2797527144c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85367cdf4a490e" /><Relationship Type="http://schemas.openxmlformats.org/officeDocument/2006/relationships/notesMaster" Target="/ppt/notesMasters/notesMaster1.xml" Id="Ra329655c978f42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3d8639b884592" /><Relationship Type="http://schemas.openxmlformats.org/officeDocument/2006/relationships/notesMaster" Target="/ppt/notesMasters/notesMaster1.xml" Id="R72ea511c68eb48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aca52fdc3e4a1f" /><Relationship Type="http://schemas.openxmlformats.org/officeDocument/2006/relationships/notesMaster" Target="/ppt/notesMasters/notesMaster1.xml" Id="R3c9b6ef57b114a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4094503714dd4" /><Relationship Type="http://schemas.openxmlformats.org/officeDocument/2006/relationships/notesMaster" Target="/ppt/notesMasters/notesMaster1.xml" Id="Rdfb6e25636ff48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1d26e973c24ceb" /><Relationship Type="http://schemas.openxmlformats.org/officeDocument/2006/relationships/notesMaster" Target="/ppt/notesMasters/notesMaster1.xml" Id="R9e7ba4f7439b48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79fb9201354a3f" /><Relationship Type="http://schemas.openxmlformats.org/officeDocument/2006/relationships/notesMaster" Target="/ppt/notesMasters/notesMaster1.xml" Id="Re401198a51824a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Communication job: By the end, MSL and HCP learners should explain the labeled setting, mechanism, pivotal evidence, schedule, and core monitoring actions. Source: current DailyMed IBRANCE prescribing information, accessed 2026-07-14.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reference: DailyMed. IBRANCE (palbociclib) tablets, Section 1 Indications and Usage. https://dailymed.nlm.nih.gov/dailymed/lookup.cfm?setid=fecbdd7d-b729-41b5-9872-231b8fe104ce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reference: DailyMed IBRANCE prescribing information. Section 2.1 Recommended Dose and Schedule; Section 5.1 Neutropenia; Section 5.2 ILD/Pneumonitis.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reference: DailyMed IBRANCE prescribing information. Section 2.1 Recommended Dose and Schedule; Section 5.1 Neutropenia; Section 5.2 ILD/Pneumonitis.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references: (1) DailyMed IBRANCE prescribing information, Section 14, Table 10. (2) ClinicalTrials.gov NCT01740427. The label reports median PFS 24.8 vs 14.5 months, HR 0.576; final OS was not statistically significant.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learners to connect each action to its exact label section. Educational demo only; refer to the current prescribing information and institutional guidance before clinical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9c52d228e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f801c80929438a" /><Relationship Type="http://schemas.openxmlformats.org/officeDocument/2006/relationships/slideLayout" Target="/ppt/slideLayouts/slideLayout1.xml" Id="R1434066bf3d648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34066bf3d648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81ac43ddb4379" /><Relationship Type="http://schemas.openxmlformats.org/officeDocument/2006/relationships/notesSlide" Target="/ppt/notesSlides/notesSlide1.xml" Id="R9297f1db65b14e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d532179634909" /><Relationship Type="http://schemas.openxmlformats.org/officeDocument/2006/relationships/notesSlide" Target="/ppt/notesSlides/notesSlide2.xml" Id="Rb484ffcc1ace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9b89250cc4e5d" /><Relationship Type="http://schemas.openxmlformats.org/officeDocument/2006/relationships/notesSlide" Target="/ppt/notesSlides/notesSlide3.xml" Id="R6af6f8a3ab7143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8f604c2f44abc" /><Relationship Type="http://schemas.openxmlformats.org/officeDocument/2006/relationships/notesSlide" Target="/ppt/notesSlides/notesSlide4.xml" Id="R2948034014134b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6a5b88c2c452d" /><Relationship Type="http://schemas.openxmlformats.org/officeDocument/2006/relationships/notesSlide" Target="/ppt/notesSlides/notesSlide5.xml" Id="R3f7f3673a8e043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fc8d9911749c3" /><Relationship Type="http://schemas.openxmlformats.org/officeDocument/2006/relationships/notesSlide" Target="/ppt/notesSlides/notesSlide6.xml" Id="Re06b1089fd904e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A684D-8CDC-4B3B-B7CE-A8BEE95D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A61"/>
                </a:solidFill>
              </a:defRPr>
            </a:pPr>
            <a:r>
              <a:rPr sz="1350" b="1">
                <a:solidFill>
                  <a:srgbClr val="006A61"/>
                </a:solidFill>
              </a:rPr>
              <a:t>PHARMALEARN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84A43-DBB8-478D-A1EA-17535FEE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1C30"/>
                </a:solidFill>
              </a:defRPr>
            </a:pPr>
            <a:r>
              <a:rPr sz="5100" b="1">
                <a:solidFill>
                  <a:srgbClr val="0B1C30"/>
                </a:solidFill>
              </a:rPr>
              <a:t>Ibrance in clinical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D5228-9516-4455-BA74-2E77FAE4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86577"/>
                </a:solidFill>
              </a:defRPr>
            </a:pPr>
            <a:r>
              <a:rPr sz="2100" b="0">
                <a:solidFill>
                  <a:srgbClr val="586577"/>
                </a:solidFill>
              </a:rPr>
              <a:t>Patient selection, dosing, evidence, and monitoring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D0D36-DDD3-42A7-A7F7-659F930E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622F7-5B66-477F-A7C4-21D42DDC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6577"/>
                </a:solidFill>
              </a:defRPr>
            </a:pPr>
            <a:r>
              <a:rPr sz="1425" b="0">
                <a:solidFill>
                  <a:srgbClr val="586577"/>
                </a:solidFill>
              </a:rPr>
              <a:t>US scope  •  HCP education  •  Refer to current prescribing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1775654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480CE-580D-4C4A-BCB4-4A65D4B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HCP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848A4-FBDB-4D53-899F-6AC6C350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Start with the labeled HR-positive, HER2-negative setting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BE877-5B39-449E-8FA8-9707E815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248DC-B0BC-45AF-91C9-DE23D72D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Prescribing Information, Section 1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B8E1D-F815-4B0C-A433-F082E7D6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8ED6B-D081-4ADD-990F-9E4BCDC2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006A61"/>
                </a:solidFill>
              </a:defRPr>
            </a:pPr>
            <a:r>
              <a:rPr sz="5700" b="1">
                <a:solidFill>
                  <a:srgbClr val="006A61"/>
                </a:solidFill>
              </a:rPr>
              <a:t>HR+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9A870-7B13-41E6-AFB2-2F8124B1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00300"/>
            <a:ext cx="57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950" b="0">
                <a:solidFill>
                  <a:srgbClr val="D7E1EB"/>
                </a:solidFill>
              </a:defRPr>
            </a:pPr>
            <a:r>
              <a:rPr sz="4950" b="0">
                <a:solidFill>
                  <a:srgbClr val="D7E1EB"/>
                </a:solidFill>
              </a:rPr>
              <a:t>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F3CC2-8DD8-48B8-B8C5-0994A4C8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003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0B1C30"/>
                </a:solidFill>
              </a:defRPr>
            </a:pPr>
            <a:r>
              <a:rPr sz="5700" b="1">
                <a:solidFill>
                  <a:srgbClr val="0B1C30"/>
                </a:solidFill>
              </a:rPr>
              <a:t>HER2−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90759-5E14-4BDD-AD0D-266F233D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C4108-FCFC-47F1-856A-4780E7B3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Advanced or metastatic breast cancer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B6E86-F367-457F-9AB6-67C65A35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1850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Combination regimen selection depends on the labeled treatment setting and prior endocrine therapy.</a:t>
            </a:r>
          </a:p>
        </p:txBody>
      </p:sp>
    </p:spTree>
    <p:extLst>
      <p:ext uri="{BB962C8B-B14F-4D97-AF65-F5344CB8AC3E}">
        <p14:creationId xmlns:p14="http://schemas.microsoft.com/office/powerpoint/2010/main" val="1078688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54B8B-9620-444F-B26C-FA3E7665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HCP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001C-C57C-46FC-B935-3D2D400E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The starting schedule follows a 21-days-on, 7-days-off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D3DCA-05A3-4618-90BF-C140754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4457C-3E16-41FA-99C8-C964BEC5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Prescribing Information, Sections 2.1, 5.1, and 5.2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DDF79-6FDB-47BE-B627-BE94FFB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45D7-F738-40C5-8F92-A4A6BA7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06A61"/>
                </a:solidFill>
              </a:defRPr>
            </a:pPr>
            <a:r>
              <a:rPr sz="6300" b="1">
                <a:solidFill>
                  <a:srgbClr val="006A61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4E1C6-B3C7-49EB-B0F8-836E886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days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9BD68-E004-4A12-A531-967DE935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0">
                <a:solidFill>
                  <a:srgbClr val="D7E1EB"/>
                </a:solidFill>
              </a:defRPr>
            </a:pPr>
            <a:r>
              <a:rPr sz="3600" b="0">
                <a:solidFill>
                  <a:srgbClr val="D7E1EB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A0DFC-B8E7-4EC7-BB17-FB308F3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B1C30"/>
                </a:solidFill>
              </a:defRPr>
            </a:pPr>
            <a:r>
              <a:rPr sz="6300" b="1">
                <a:solidFill>
                  <a:srgbClr val="0B1C30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91F16-76EB-4ECF-B0AC-D62DC60A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days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9DEE7-DB69-436E-8FEF-AC03FECC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1C30"/>
                </a:solidFill>
              </a:defRPr>
            </a:pPr>
            <a:r>
              <a:rPr sz="2175" b="1">
                <a:solidFill>
                  <a:srgbClr val="0B1C30"/>
                </a:solidFill>
              </a:rPr>
              <a:t>125 mg once daily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40CF6-D609-4150-951E-2E2A3527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C064B-9146-4ADB-9F98-47E1692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Monitor complete blood 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A3099-C685-4421-A8C1-63524DCF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86577"/>
                </a:solidFill>
              </a:defRPr>
            </a:pPr>
            <a:r>
              <a:rPr sz="1725" b="0">
                <a:solidFill>
                  <a:srgbClr val="586577"/>
                </a:solidFill>
              </a:rPr>
              <a:t>Before treatment • Each cycle start • Day 15 of Cycles 1 and 2 • As clinically indicated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0CB38-0833-43DE-B134-D064908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C30"/>
                </a:solidFill>
              </a:defRPr>
            </a:pPr>
            <a:r>
              <a:rPr sz="2025" b="1">
                <a:solidFill>
                  <a:srgbClr val="0B1C30"/>
                </a:solidFill>
              </a:rPr>
              <a:t>Suspected ILD/pneumonitis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1662F-BD36-4C04-957A-796640E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6577"/>
                </a:solidFill>
              </a:defRPr>
            </a:pPr>
            <a:r>
              <a:rPr sz="1650" b="0">
                <a:solidFill>
                  <a:srgbClr val="586577"/>
                </a:solidFill>
              </a:rPr>
              <a:t>Interrupt immediately and evaluate; permanently discontinue for severe disease.</a:t>
            </a:r>
          </a:p>
        </p:txBody>
      </p:sp>
    </p:spTree>
    <p:extLst>
      <p:ext uri="{BB962C8B-B14F-4D97-AF65-F5344CB8AC3E}">
        <p14:creationId xmlns:p14="http://schemas.microsoft.com/office/powerpoint/2010/main" val="181894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54B8B-9620-444F-B26C-FA3E7665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HCP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001C-C57C-46FC-B935-3D2D400E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CBC monitoring is front-loaded in the first two cycles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D3DCA-05A3-4618-90BF-C140754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4457C-3E16-41FA-99C8-C964BEC5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Prescribing Information, Sections 2.1, 5.1, and 5.2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DDF79-6FDB-47BE-B627-BE94FFB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45D7-F738-40C5-8F92-A4A6BA7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06A61"/>
                </a:solidFill>
              </a:defRPr>
            </a:pPr>
            <a:r>
              <a:rPr sz="6300" b="1">
                <a:solidFill>
                  <a:srgbClr val="006A61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4E1C6-B3C7-49EB-B0F8-836E886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days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9BD68-E004-4A12-A531-967DE935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0">
                <a:solidFill>
                  <a:srgbClr val="D7E1EB"/>
                </a:solidFill>
              </a:defRPr>
            </a:pPr>
            <a:r>
              <a:rPr sz="3600" b="0">
                <a:solidFill>
                  <a:srgbClr val="D7E1EB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A0DFC-B8E7-4EC7-BB17-FB308F3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B1C30"/>
                </a:solidFill>
              </a:defRPr>
            </a:pPr>
            <a:r>
              <a:rPr sz="6300" b="1">
                <a:solidFill>
                  <a:srgbClr val="0B1C30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91F16-76EB-4ECF-B0AC-D62DC60A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days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9DEE7-DB69-436E-8FEF-AC03FECC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1C30"/>
                </a:solidFill>
              </a:defRPr>
            </a:pPr>
            <a:r>
              <a:rPr sz="2175" b="1">
                <a:solidFill>
                  <a:srgbClr val="0B1C30"/>
                </a:solidFill>
              </a:rPr>
              <a:t>125 mg once daily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40CF6-D609-4150-951E-2E2A3527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C064B-9146-4ADB-9F98-47E1692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Monitor complete blood 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A3099-C685-4421-A8C1-63524DCF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86577"/>
                </a:solidFill>
              </a:defRPr>
            </a:pPr>
            <a:r>
              <a:rPr sz="1725" b="0">
                <a:solidFill>
                  <a:srgbClr val="586577"/>
                </a:solidFill>
              </a:rPr>
              <a:t>Before treatment • Each cycle start • Day 15 of Cycles 1 and 2 • As clinically indicated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0CB38-0833-43DE-B134-D064908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C30"/>
                </a:solidFill>
              </a:defRPr>
            </a:pPr>
            <a:r>
              <a:rPr sz="2025" b="1">
                <a:solidFill>
                  <a:srgbClr val="0B1C30"/>
                </a:solidFill>
              </a:rPr>
              <a:t>Suspected ILD/pneumonitis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1662F-BD36-4C04-957A-796640E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6577"/>
                </a:solidFill>
              </a:defRPr>
            </a:pPr>
            <a:r>
              <a:rPr sz="1650" b="0">
                <a:solidFill>
                  <a:srgbClr val="586577"/>
                </a:solidFill>
              </a:rPr>
              <a:t>Interrupt immediately and evaluate; permanently discontinue for severe disease.</a:t>
            </a:r>
          </a:p>
        </p:txBody>
      </p:sp>
    </p:spTree>
    <p:extLst>
      <p:ext uri="{BB962C8B-B14F-4D97-AF65-F5344CB8AC3E}">
        <p14:creationId xmlns:p14="http://schemas.microsoft.com/office/powerpoint/2010/main" val="181894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B6D72-EFDB-4449-9DBB-FCFB000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HCP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F8610-7D0D-48FB-824F-23F65449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PALOMA-2 improved PFS; final OS was not statistically significant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076D4-0B20-4B66-96B5-5667C69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B1E4C-8A6A-4D93-B12A-4DA1BDB0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PI, Section 14, Table 10  •  [2] ClinicalTrials.gov NCT01740427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9121D-C9D0-4E5C-AB71-23D1BA0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7F006-5964-4913-AF55-F9D7FB2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06A61"/>
                </a:solidFill>
              </a:defRPr>
            </a:pPr>
            <a:r>
              <a:rPr sz="6300" b="1">
                <a:solidFill>
                  <a:srgbClr val="006A61"/>
                </a:solidFill>
              </a:rPr>
              <a:t>24.8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98F47-EBC0-4ADF-91B4-39BDF1E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D61A8-FC3C-406D-9C04-91A0275D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C30"/>
                </a:solidFill>
              </a:defRPr>
            </a:pPr>
            <a:r>
              <a:rPr sz="1725" b="1">
                <a:solidFill>
                  <a:srgbClr val="0B1C30"/>
                </a:solidFill>
              </a:rPr>
              <a:t>IBRANCE + letrozole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8BF60-10C4-4A51-92AA-1F2C4DCA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B1C30"/>
                </a:solidFill>
              </a:defRPr>
            </a:pPr>
            <a:r>
              <a:rPr sz="6300" b="1">
                <a:solidFill>
                  <a:srgbClr val="0B1C30"/>
                </a:solidFill>
              </a:rPr>
              <a:t>14.5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824ED-F562-44A8-8F91-6A3EAC6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D43CD-7114-47B5-83D1-9E0F7B1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C30"/>
                </a:solidFill>
              </a:defRPr>
            </a:pPr>
            <a:r>
              <a:rPr sz="1725" b="1">
                <a:solidFill>
                  <a:srgbClr val="0B1C30"/>
                </a:solidFill>
              </a:rPr>
              <a:t>Placebo + letrozole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881D7-045F-47BF-A1DF-1F923F5A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19747-F74D-4BD4-A0E3-0F92574E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C30"/>
                </a:solidFill>
              </a:defRPr>
            </a:pPr>
            <a:r>
              <a:rPr sz="2550" b="1">
                <a:solidFill>
                  <a:srgbClr val="0B1C30"/>
                </a:solidFill>
              </a:rPr>
              <a:t>HR 0.576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0E30D-AD00-4F90-B61F-DE5F36D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PFS favored the palbociclib arm.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8F85A-A8A3-421C-B1E8-649AA5C9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6577"/>
                </a:solidFill>
              </a:defRPr>
            </a:pPr>
            <a:r>
              <a:rPr sz="1650" b="0">
                <a:solidFill>
                  <a:srgbClr val="586577"/>
                </a:solidFill>
              </a:rPr>
              <a:t>The prespecified final OS analysis was not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376535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047A62-8147-42CD-8CB2-58D732B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HCP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B4510-F507-49A6-9E38-2C46E943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Safe use depends on four practical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39B5E-2844-430E-876D-5FD662A0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4C14D-1EF1-47AD-B645-D499D34A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Current IBRANCE Prescribing Information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F1D4-5852-4AC5-A29A-E255531B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0FE20-EC5E-4893-A805-960F278C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E85FA-8E84-4C08-95B2-1615CCE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717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Confirm the labeled treatment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3001B-468A-4CC2-B1D2-CBC54E3C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624AD-40E3-47BA-8D44-B91EAFBD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A8484-3B3B-4B15-8639-BAB101E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Explain the exact 28-day 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4548C-1960-4B85-AD7B-49364C2D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766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28D30-19B6-432B-B392-883E59FA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63141-E076-4220-A80E-B7C2AC1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Plan complete blood count monitoring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BCD27-C753-45B7-820C-29786F9C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07236-BA34-470C-A0FF-7C28E51D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2C3C3-CEE5-4D06-9B79-8822E575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Interrupt and evaluate suspected ILD/pneumonitis</a:t>
            </a:r>
          </a:p>
        </p:txBody>
      </p:sp>
    </p:spTree>
    <p:extLst>
      <p:ext uri="{BB962C8B-B14F-4D97-AF65-F5344CB8AC3E}">
        <p14:creationId xmlns:p14="http://schemas.microsoft.com/office/powerpoint/2010/main" val="1000807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2026-07-14T11:22:11.0310000Z</dcterms:created>
  <dcterms:modified xsi:type="dcterms:W3CDTF">2026-07-14T11:22:11.0310000Z</dcterms:modified>
</coreProperties>
</file>